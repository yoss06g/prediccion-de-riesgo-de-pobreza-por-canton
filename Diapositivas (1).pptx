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68" r:id="rId6"/>
    <p:sldId id="259" r:id="rId7"/>
    <p:sldId id="266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MX" sz="1800" b="0" i="0" u="none" strike="noStrike">
                <a:solidFill>
                  <a:srgbClr val="000000"/>
                </a:solidFill>
                <a:latin typeface="Arial"/>
              </a:rPr>
              <a:t>IRS Promedio Nacional 2019–2026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IRS Promedio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09-4CB2-BBEC-D60FBD85E73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709-4CB2-BBEC-D60FBD85E73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709-4CB2-BBEC-D60FBD85E73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709-4CB2-BBEC-D60FBD85E73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709-4CB2-BBEC-D60FBD85E73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709-4CB2-BBEC-D60FBD85E735}"/>
              </c:ext>
            </c:extLst>
          </c:dPt>
          <c:dPt>
            <c:idx val="6"/>
            <c:invertIfNegative val="0"/>
            <c:bubble3D val="0"/>
            <c:spPr>
              <a:solidFill>
                <a:srgbClr val="D4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709-4CB2-BBEC-D60FBD85E735}"/>
              </c:ext>
            </c:extLst>
          </c:dPt>
          <c:dPt>
            <c:idx val="7"/>
            <c:invertIfNegative val="0"/>
            <c:bubble3D val="0"/>
            <c:spPr>
              <a:solidFill>
                <a:srgbClr val="D486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709-4CB2-BBEC-D60FBD85E7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4A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
(pred.)</c:v>
                </c:pt>
                <c:pt idx="7">
                  <c:v>2026
(pred.)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0.98480000000000001</c:v>
                </c:pt>
                <c:pt idx="1">
                  <c:v>0.98529999999999995</c:v>
                </c:pt>
                <c:pt idx="2">
                  <c:v>0.98360000000000003</c:v>
                </c:pt>
                <c:pt idx="3">
                  <c:v>0.98170000000000002</c:v>
                </c:pt>
                <c:pt idx="4">
                  <c:v>0.98050000000000004</c:v>
                </c:pt>
                <c:pt idx="5">
                  <c:v>0.97989999999999999</c:v>
                </c:pt>
                <c:pt idx="6">
                  <c:v>0.97860000000000003</c:v>
                </c:pt>
                <c:pt idx="7">
                  <c:v>0.97729999999999995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709-4CB2-BBEC-D60FBD85E7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endParaRPr lang="es-EC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9"/>
          <c:min val="0.9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EC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17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0EBD-FFD5-3789-8116-DE8B18D8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2854-CCC2-1666-D0F0-65284A705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22526-E0E8-4E5E-9179-6EFEB79F2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DB0B2-1E6A-0A68-0D55-54C9B31ED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50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75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Geografía de Ecuador | Cámara Oficial Española de Comercio del Ecuador">
            <a:extLst>
              <a:ext uri="{FF2B5EF4-FFF2-40B4-BE49-F238E27FC236}">
                <a16:creationId xmlns:a16="http://schemas.microsoft.com/office/drawing/2014/main" id="{D4BD308D-4FCB-8A41-666C-A2A9F6470F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152" y="-22860"/>
            <a:ext cx="9070848" cy="51663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PUCE </a:t>
            </a:r>
            <a:r>
              <a:rPr lang="en-US" sz="800" kern="0" spc="3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CARRERA DE CIENCIA DE DATOS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Riesgo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Pobreza por Cantón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697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Resiliencia Local (IRL) · 219 Cantones · 2019–2026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3200400"/>
            <a:ext cx="4114800" cy="36576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200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Proyecto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37307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Ramos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9593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Delgado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1879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Yoslava Garofalo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4165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Evelyn Oña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6451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Alisson Manosalvas  </a:t>
            </a: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D51F-8102-2A96-5CA6-F18D0D92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E6AAA4-F686-C83A-B551-CEDF939BB5C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DAF5B-6790-4643-9A02-04C70013D082}"/>
              </a:ext>
            </a:extLst>
          </p:cNvPr>
          <p:cNvSpPr/>
          <p:nvPr/>
        </p:nvSpPr>
        <p:spPr>
          <a:xfrm>
            <a:off x="365760" y="109728"/>
            <a:ext cx="86487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FUENTE Y DICCIONARIO DE DATOS 		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CC562D-4A18-96C7-E12F-F52E0CF1A2B5}"/>
              </a:ext>
            </a:extLst>
          </p:cNvPr>
          <p:cNvSpPr/>
          <p:nvPr/>
        </p:nvSpPr>
        <p:spPr>
          <a:xfrm>
            <a:off x="320040" y="777240"/>
            <a:ext cx="8503920" cy="2141220"/>
          </a:xfrm>
          <a:prstGeom prst="roundRect">
            <a:avLst>
              <a:gd name="adj" fmla="val 9412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EC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955AC6-44FB-6F2D-61D3-3F9753DCE5AB}"/>
              </a:ext>
            </a:extLst>
          </p:cNvPr>
          <p:cNvSpPr/>
          <p:nvPr/>
        </p:nvSpPr>
        <p:spPr>
          <a:xfrm>
            <a:off x="502920" y="155067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recolectaron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1100" b="1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socioeconómicas cantonales del Ecuador (2009-2024): Observatorio de la Política Económica y Competitividad (OPEC) y Centro de Estudios Económicos para el Desarrollo del Ecuador (CEEDE) </a:t>
            </a:r>
            <a:r>
              <a:rPr lang="es-MX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por </a:t>
            </a:r>
            <a:r>
              <a:rPr lang="es-MX" sz="1100" b="1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</a:t>
            </a:r>
            <a:r>
              <a:rPr lang="es-MX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Maridueña et al. </a:t>
            </a:r>
          </a:p>
          <a:p>
            <a:pPr marL="0" indent="0">
              <a:buNone/>
            </a:pPr>
            <a:r>
              <a:rPr lang="es-MX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MX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MX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 construido a partir del procesamiento de más de </a:t>
            </a:r>
            <a:r>
              <a:rPr lang="es-MX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bases de microdatos provenientes de registros administrativos oficiales del INEC, BCE, SRI y SCVS</a:t>
            </a:r>
            <a:r>
              <a:rPr lang="es-MX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base incluyó aproximadamente </a:t>
            </a:r>
            <a:r>
              <a:rPr lang="es-MX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millones de registros individuales </a:t>
            </a:r>
            <a:r>
              <a:rPr lang="es-MX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fue tratada utilizando procedimientos automatizados en </a:t>
            </a:r>
            <a:r>
              <a:rPr lang="es-MX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 18 para depuración</a:t>
            </a:r>
            <a:r>
              <a:rPr lang="es-MX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estandarización y consolidación. </a:t>
            </a:r>
          </a:p>
          <a:p>
            <a:pPr marL="0" indent="0">
              <a:buNone/>
            </a:pPr>
            <a:r>
              <a:rPr lang="es-MX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estos microdatos se generaron series de tiempo con </a:t>
            </a:r>
            <a:r>
              <a:rPr lang="es-MX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mensual, trimestral y anual, armonizando la información para 221 cantones del país </a:t>
            </a:r>
            <a:r>
              <a:rPr lang="es-MX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desagregaciones por sexo e industria cuando las fuentes lo permitían. Se relevaron más de una decena de indicadores, garantizando cifras consistentes con los tabulados oficiales mediante validaciones cruzadas. </a:t>
            </a:r>
            <a:r>
              <a:rPr lang="es-MX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final integra en un único repositorio información proveniente de registros administrativos consolidados y armonizados, permitiendo el análisis de tendencias socioeconómicas cantonales entre 2009 y 2024.</a:t>
            </a:r>
            <a:endParaRPr lang="en-US" sz="1100" b="1" i="1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32C7ECC-4618-C9AC-FC0B-BDD4936BC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055620"/>
            <a:ext cx="7353300" cy="193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16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EL PROBLEMA Y EL CANVAS                     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 carece de métricas cantonales de riesgo socioeconómico entre censos para determiner la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pobreza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canton. Los GAD Provinciales y el MIDESO no pueden asignar presupuesto de forma basada en datos con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predictive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carencia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End-User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 Provinciales del Ecuador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 provincias · 219 cantones)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MIDESO · Secretaría de Planificación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Analítica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cantones tendrán Índice de Resiliencia Local (IRL) ≤ 0 </a:t>
            </a: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2019–2026, señalando intervención prioritaria?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737360"/>
            <a:ext cx="2743200" cy="306324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080760" y="1737360"/>
            <a:ext cx="2743200" cy="502920"/>
          </a:xfrm>
          <a:prstGeom prst="rect">
            <a:avLst/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IRL con semáforo cantonal predictive con </a:t>
            </a: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endParaRPr lang="en-US" sz="11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Histórico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2025 y 2026</a:t>
            </a:r>
          </a:p>
          <a:p>
            <a:endParaRPr lang="en-US" sz="11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modelos ML + dashboard Power BI listo para producción.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Business Model Canvas del equipo · INEC · BCE · SRI · SCVS</a:t>
            </a:r>
            <a:endParaRPr lang="en-US" sz="800" dirty="0"/>
          </a:p>
        </p:txBody>
      </p:sp>
      <p:pic>
        <p:nvPicPr>
          <p:cNvPr id="19" name="Imagen 18" descr="Boletín técnico">
            <a:extLst>
              <a:ext uri="{FF2B5EF4-FFF2-40B4-BE49-F238E27FC236}">
                <a16:creationId xmlns:a16="http://schemas.microsoft.com/office/drawing/2014/main" id="{BA7D4602-A2ED-2D08-2AD5-3DCC47A8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33" y="3019145"/>
            <a:ext cx="1426213" cy="1598575"/>
          </a:xfrm>
          <a:prstGeom prst="rect">
            <a:avLst/>
          </a:prstGeom>
        </p:spPr>
      </p:pic>
      <p:pic>
        <p:nvPicPr>
          <p:cNvPr id="20" name="Imagen 19" descr="INEC: Pobreza en Ecuador baja al 25,2 % y roza el nivel prepandemia -  Ecuador 221">
            <a:extLst>
              <a:ext uri="{FF2B5EF4-FFF2-40B4-BE49-F238E27FC236}">
                <a16:creationId xmlns:a16="http://schemas.microsoft.com/office/drawing/2014/main" id="{A8C3ADF4-24C1-CB7E-A303-B298C01E46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82"/>
          <a:stretch>
            <a:fillRect/>
          </a:stretch>
        </p:blipFill>
        <p:spPr>
          <a:xfrm>
            <a:off x="3408583" y="3119487"/>
            <a:ext cx="2326833" cy="1478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LOS DATOS — ETL Y EDA                              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finales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2542032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42032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718304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18304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seleccionadas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03136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894576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2019–2024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94576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histórico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8928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INEC · BCE · SRI · Superintendencia de Compañías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3657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Exclusión zonas no delimitadas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Piedrero y Manga del Cura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debido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carencia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provincial y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fundamentals para construer el IRL: nulos estructurales en recaudación y registro mercantil (&lt;1% del total). 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219456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3273552" y="2286000"/>
            <a:ext cx="411480" cy="411480"/>
          </a:xfrm>
          <a:prstGeom prst="ellipse">
            <a:avLst/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3273552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76472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Imputación por regresión por cantón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278892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y VAB 2024 imputados con regresión lineal individual por cantón (2019–2023), preservando la tendencia histórica territorial.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9904" y="2194560"/>
            <a:ext cx="2788920" cy="265176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8" name="Shape 26"/>
          <p:cNvSpPr/>
          <p:nvPr/>
        </p:nvSpPr>
        <p:spPr>
          <a:xfrm>
            <a:off x="6181344" y="2286000"/>
            <a:ext cx="411480" cy="411480"/>
          </a:xfrm>
          <a:prstGeom prst="ellipse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6181344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84264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conservados — DEC-003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27064" y="278892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8%–14% de outliers en ventas y recaudación identificados. Se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conservaron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debido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reflejan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de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eliminarlos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sería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error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metodológico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sesgaría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carencias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cantonales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(agroindustria concentrada). RMSE final confirma robustez.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320540"/>
            <a:ext cx="8595360" cy="69037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411480" y="4407408"/>
            <a:ext cx="83210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las decisions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tomadas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el pipeline de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limpieza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estan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fundamentadas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metodológicamente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siguientes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fuentes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dirty="0"/>
              <a:t>Gujarati, D. N., &amp; Porter, D. C. (2009). Basic </a:t>
            </a:r>
            <a:r>
              <a:rPr lang="es-MX" sz="1000" dirty="0" err="1"/>
              <a:t>econometrics</a:t>
            </a:r>
            <a:r>
              <a:rPr lang="es-MX" sz="1000" dirty="0"/>
              <a:t> (5ta ed.). McGraw-Hill </a:t>
            </a:r>
            <a:r>
              <a:rPr lang="es-MX" sz="1000" dirty="0" err="1"/>
              <a:t>Education</a:t>
            </a:r>
            <a:r>
              <a:rPr lang="es-MX" sz="10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b="1" dirty="0"/>
              <a:t>J</a:t>
            </a:r>
            <a:r>
              <a:rPr lang="es-MX" sz="1000" dirty="0"/>
              <a:t>olliffe, I. T. (2002). Principal </a:t>
            </a:r>
            <a:r>
              <a:rPr lang="es-MX" sz="1000" dirty="0" err="1"/>
              <a:t>component</a:t>
            </a:r>
            <a:r>
              <a:rPr lang="es-MX" sz="1000" dirty="0"/>
              <a:t> </a:t>
            </a:r>
            <a:r>
              <a:rPr lang="es-MX" sz="1000" dirty="0" err="1"/>
              <a:t>analysis</a:t>
            </a:r>
            <a:r>
              <a:rPr lang="es-MX" sz="1000" dirty="0"/>
              <a:t> (2da ed.). Springer-</a:t>
            </a:r>
            <a:r>
              <a:rPr lang="es-MX" sz="1000" dirty="0" err="1"/>
              <a:t>Verlag</a:t>
            </a:r>
            <a:r>
              <a:rPr lang="es-MX" sz="10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dirty="0"/>
              <a:t>Wooldridge, J. M. (2016). </a:t>
            </a:r>
            <a:r>
              <a:rPr lang="es-MX" sz="1000" dirty="0" err="1"/>
              <a:t>Introductory</a:t>
            </a:r>
            <a:r>
              <a:rPr lang="es-MX" sz="1000" dirty="0"/>
              <a:t> </a:t>
            </a:r>
            <a:r>
              <a:rPr lang="es-MX" sz="1000" dirty="0" err="1"/>
              <a:t>econometrics</a:t>
            </a:r>
            <a:r>
              <a:rPr lang="es-MX" sz="1000" dirty="0"/>
              <a:t>: A </a:t>
            </a:r>
            <a:r>
              <a:rPr lang="es-MX" sz="1000" dirty="0" err="1"/>
              <a:t>modern</a:t>
            </a:r>
            <a:r>
              <a:rPr lang="es-MX" sz="1000" dirty="0"/>
              <a:t> </a:t>
            </a:r>
            <a:r>
              <a:rPr lang="es-MX" sz="1000" dirty="0" err="1"/>
              <a:t>approach</a:t>
            </a:r>
            <a:r>
              <a:rPr lang="es-MX" sz="1000" dirty="0"/>
              <a:t> (6ta ed.). Cengage </a:t>
            </a:r>
            <a:r>
              <a:rPr lang="es-MX" sz="1000" dirty="0" err="1"/>
              <a:t>Learning</a:t>
            </a:r>
            <a:r>
              <a:rPr lang="es-MX" sz="1000" dirty="0"/>
              <a:t>.</a:t>
            </a:r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FEATURE ENGINEERING Y CORRECCIÓN DE ALTA CORRELACIÓN                               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4320" y="4320540"/>
            <a:ext cx="8595360" cy="69037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411480" y="4407408"/>
            <a:ext cx="83210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las decisions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tomadas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el pipeline de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limpieza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estan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fundamentadas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metodológicamente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siguientes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fuentes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dirty="0"/>
              <a:t>Gujarati, D. N., &amp; Porter, D. C. (2009). Basic </a:t>
            </a:r>
            <a:r>
              <a:rPr lang="es-MX" sz="1000" dirty="0" err="1"/>
              <a:t>econometrics</a:t>
            </a:r>
            <a:r>
              <a:rPr lang="es-MX" sz="1000" dirty="0"/>
              <a:t> (5ta ed.). McGraw-Hill </a:t>
            </a:r>
            <a:r>
              <a:rPr lang="es-MX" sz="1000" dirty="0" err="1"/>
              <a:t>Education</a:t>
            </a:r>
            <a:r>
              <a:rPr lang="es-MX" sz="10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b="1" dirty="0"/>
              <a:t>J</a:t>
            </a:r>
            <a:r>
              <a:rPr lang="es-MX" sz="1000" dirty="0"/>
              <a:t>olliffe, I. T. (2002). Principal </a:t>
            </a:r>
            <a:r>
              <a:rPr lang="es-MX" sz="1000" dirty="0" err="1"/>
              <a:t>component</a:t>
            </a:r>
            <a:r>
              <a:rPr lang="es-MX" sz="1000" dirty="0"/>
              <a:t> </a:t>
            </a:r>
            <a:r>
              <a:rPr lang="es-MX" sz="1000" dirty="0" err="1"/>
              <a:t>analysis</a:t>
            </a:r>
            <a:r>
              <a:rPr lang="es-MX" sz="1000" dirty="0"/>
              <a:t> (2da ed.). Springer-</a:t>
            </a:r>
            <a:r>
              <a:rPr lang="es-MX" sz="1000" dirty="0" err="1"/>
              <a:t>Verlag</a:t>
            </a:r>
            <a:r>
              <a:rPr lang="es-MX" sz="10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s-MX" sz="1000" dirty="0"/>
              <a:t>Wooldridge, J. M. (2016). </a:t>
            </a:r>
            <a:r>
              <a:rPr lang="es-MX" sz="1000" dirty="0" err="1"/>
              <a:t>Introductory</a:t>
            </a:r>
            <a:r>
              <a:rPr lang="es-MX" sz="1000" dirty="0"/>
              <a:t> </a:t>
            </a:r>
            <a:r>
              <a:rPr lang="es-MX" sz="1000" dirty="0" err="1"/>
              <a:t>econometrics</a:t>
            </a:r>
            <a:r>
              <a:rPr lang="es-MX" sz="1000" dirty="0"/>
              <a:t>: A </a:t>
            </a:r>
            <a:r>
              <a:rPr lang="es-MX" sz="1000" dirty="0" err="1"/>
              <a:t>modern</a:t>
            </a:r>
            <a:r>
              <a:rPr lang="es-MX" sz="1000" dirty="0"/>
              <a:t> </a:t>
            </a:r>
            <a:r>
              <a:rPr lang="es-MX" sz="1000" dirty="0" err="1"/>
              <a:t>approach</a:t>
            </a:r>
            <a:r>
              <a:rPr lang="es-MX" sz="1000" dirty="0"/>
              <a:t> (6ta ed.). Cengage </a:t>
            </a:r>
            <a:r>
              <a:rPr lang="es-MX" sz="1000" dirty="0" err="1"/>
              <a:t>Learning</a:t>
            </a:r>
            <a:r>
              <a:rPr lang="es-MX" sz="1000" dirty="0"/>
              <a:t>.</a:t>
            </a:r>
          </a:p>
          <a:p>
            <a:pPr marL="0" indent="0">
              <a:buNone/>
            </a:pP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6F49C1-D71B-D644-6449-762F1A5B4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91" y="726948"/>
            <a:ext cx="2867881" cy="178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Shape 15">
            <a:extLst>
              <a:ext uri="{FF2B5EF4-FFF2-40B4-BE49-F238E27FC236}">
                <a16:creationId xmlns:a16="http://schemas.microsoft.com/office/drawing/2014/main" id="{74BF69FD-D91D-6367-E983-9833B42AA261}"/>
              </a:ext>
            </a:extLst>
          </p:cNvPr>
          <p:cNvSpPr/>
          <p:nvPr/>
        </p:nvSpPr>
        <p:spPr>
          <a:xfrm>
            <a:off x="3236607" y="758919"/>
            <a:ext cx="5743189" cy="1575487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A55B6A5B-EF6C-CE2E-F381-CC681D8E62BB}"/>
              </a:ext>
            </a:extLst>
          </p:cNvPr>
          <p:cNvSpPr/>
          <p:nvPr/>
        </p:nvSpPr>
        <p:spPr>
          <a:xfrm>
            <a:off x="3236608" y="873720"/>
            <a:ext cx="5633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s-MX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Primero, se </a:t>
            </a:r>
            <a:r>
              <a:rPr lang="es-MX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aplicaro</a:t>
            </a:r>
            <a:r>
              <a:rPr lang="es-MX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s-MX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Componentes Principales (PCA) </a:t>
            </a:r>
            <a:r>
              <a:rPr lang="es-MX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conjunto de variables altamente correlacionadas para consolidarlas en un índice sintético de capacidad económica; este procedimiento es respaldado por </a:t>
            </a:r>
            <a:r>
              <a:rPr lang="es-MX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Jolliffe</a:t>
            </a:r>
            <a:r>
              <a:rPr lang="es-MX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(2002) en su obra Principal </a:t>
            </a:r>
            <a:r>
              <a:rPr lang="es-MX" sz="10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r>
              <a:rPr lang="es-MX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análisis.</a:t>
            </a:r>
          </a:p>
          <a:p>
            <a:pPr marL="0" indent="0" algn="just">
              <a:buNone/>
            </a:pPr>
            <a:endParaRPr lang="es-MX" sz="1000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Segundo, se adoptó una estrategia de segmentación de variables: </a:t>
            </a:r>
            <a:r>
              <a:rPr lang="es-MX" sz="1000" b="1" i="0" dirty="0">
                <a:solidFill>
                  <a:srgbClr val="1F1F1F"/>
                </a:solidFill>
                <a:effectLst/>
                <a:latin typeface="Google Sans Text"/>
              </a:rPr>
              <a:t>se integró el logaritmo natural de la población como variable independiente para estabilizar su varianza y linealizar su efecto</a:t>
            </a: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, práctica estandarizada en econometría para corregir la heterocedasticidad según </a:t>
            </a:r>
            <a:r>
              <a:rPr lang="es-MX" sz="1000" b="0" i="0" dirty="0" err="1">
                <a:solidFill>
                  <a:srgbClr val="1F1F1F"/>
                </a:solidFill>
                <a:effectLst/>
                <a:latin typeface="Google Sans Text"/>
              </a:rPr>
              <a:t>Wooldridge</a:t>
            </a: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 (2016), y se conservó de forma independiente la variación interanual real de la producción per cápita.</a:t>
            </a:r>
            <a:endParaRPr lang="en-US" sz="1000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1A959523-8E37-3469-D601-8100E4C99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370" y="2449208"/>
            <a:ext cx="2708368" cy="17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Shape 20">
            <a:extLst>
              <a:ext uri="{FF2B5EF4-FFF2-40B4-BE49-F238E27FC236}">
                <a16:creationId xmlns:a16="http://schemas.microsoft.com/office/drawing/2014/main" id="{D085A5E5-F637-FBD0-C671-3781BE6BC9CE}"/>
              </a:ext>
            </a:extLst>
          </p:cNvPr>
          <p:cNvSpPr/>
          <p:nvPr/>
        </p:nvSpPr>
        <p:spPr>
          <a:xfrm>
            <a:off x="274320" y="2571750"/>
            <a:ext cx="5831934" cy="1629918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04B98D48-3490-1381-5849-EB125611D76E}"/>
              </a:ext>
            </a:extLst>
          </p:cNvPr>
          <p:cNvSpPr/>
          <p:nvPr/>
        </p:nvSpPr>
        <p:spPr>
          <a:xfrm>
            <a:off x="334736" y="2586862"/>
            <a:ext cx="5633072" cy="20099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s-MX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comprobado que no existe que una alta correlación entre el índice sintético y la log población se creo una nueva variable </a:t>
            </a:r>
            <a:r>
              <a:rPr lang="es-MX" sz="1000" dirty="0">
                <a:solidFill>
                  <a:srgbClr val="1F1F1F"/>
                </a:solidFill>
                <a:latin typeface="Google Sans Text"/>
                <a:ea typeface="Calibri" pitchFamily="34" charset="-122"/>
                <a:cs typeface="Calibri" pitchFamily="34" charset="-120"/>
              </a:rPr>
              <a:t>p</a:t>
            </a: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ara la estimación del </a:t>
            </a:r>
            <a:r>
              <a:rPr lang="es-MX" sz="1000" b="1" i="0" dirty="0">
                <a:solidFill>
                  <a:srgbClr val="1F1F1F"/>
                </a:solidFill>
                <a:effectLst/>
                <a:latin typeface="Google Sans Text"/>
              </a:rPr>
              <a:t>Índice de Pobreza </a:t>
            </a:r>
            <a:r>
              <a:rPr lang="es-MX" sz="1000" i="0" dirty="0">
                <a:solidFill>
                  <a:srgbClr val="1F1F1F"/>
                </a:solidFill>
                <a:effectLst/>
                <a:latin typeface="Google Sans Text"/>
              </a:rPr>
              <a:t>adoptando </a:t>
            </a: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un enfoque de normalización inversa sobre el componente sintético de capacidad económica. Dado que la teoría de la economía del desarrollo postula una relación negativa entre el dinamismo productivo y la incidencia de la pobreza, se procedió a la inversión de la polaridad del </a:t>
            </a:r>
            <a:r>
              <a:rPr lang="es-MX" sz="1000" b="1" i="0" dirty="0">
                <a:solidFill>
                  <a:srgbClr val="1F1F1F"/>
                </a:solidFill>
                <a:effectLst/>
                <a:latin typeface="Google Sans Text"/>
              </a:rPr>
              <a:t>Índice de Capacidad Económica. </a:t>
            </a: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Posteriormente, se aplicó una normalización de rango [0,1] para transformar el resultado en un </a:t>
            </a:r>
            <a:r>
              <a:rPr lang="es-MX" sz="1000" b="1" i="0" dirty="0">
                <a:solidFill>
                  <a:srgbClr val="1F1F1F"/>
                </a:solidFill>
                <a:effectLst/>
                <a:latin typeface="Google Sans Text"/>
              </a:rPr>
              <a:t>Índice de Riesgo Socioeconómico (IRS)</a:t>
            </a: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. Este indicador permite cuantificar la probabilidad de pobreza estructural en cada cantón, </a:t>
            </a:r>
            <a:r>
              <a:rPr lang="es-MX" sz="1000" b="1" dirty="0">
                <a:solidFill>
                  <a:srgbClr val="1F1F1F"/>
                </a:solidFill>
                <a:latin typeface="Google Sans Text"/>
              </a:rPr>
              <a:t>ya que a menor capacidad económica mayor riesgo </a:t>
            </a:r>
            <a:r>
              <a:rPr lang="es-MX" sz="1000" b="1" dirty="0" err="1">
                <a:solidFill>
                  <a:srgbClr val="1F1F1F"/>
                </a:solidFill>
                <a:latin typeface="Google Sans Text"/>
              </a:rPr>
              <a:t>socieconómico</a:t>
            </a:r>
            <a:r>
              <a:rPr lang="es-MX" sz="1000" dirty="0">
                <a:solidFill>
                  <a:srgbClr val="1F1F1F"/>
                </a:solidFill>
                <a:latin typeface="Google Sans Text"/>
              </a:rPr>
              <a:t>,</a:t>
            </a:r>
            <a:r>
              <a:rPr lang="es-MX" sz="1000" b="0" i="0" dirty="0">
                <a:solidFill>
                  <a:srgbClr val="1F1F1F"/>
                </a:solidFill>
                <a:effectLst/>
                <a:latin typeface="Google Sans Text"/>
              </a:rPr>
              <a:t> ofreciendo una métrica estandarizada y comparable a nivel nacional, la cual sirve como proxy ante la ausencia de mediciones censales directas para el periodo de estudio.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3591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EL MODELO — COMPARATIVA Y SELECCIÓN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Time Series Split — Entrenamiento 2019–2023 · Test 2024  (sin data leakage — DEC-005)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326216"/>
              </p:ext>
            </p:extLst>
          </p:nvPr>
        </p:nvGraphicFramePr>
        <p:xfrm>
          <a:off x="274320" y="1261872"/>
          <a:ext cx="8595360" cy="2331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Raíz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error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cuadrático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medio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ABSOLUTO MEDIO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TS1 – Tendencia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TS2 – AR(1) + Tendencia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</a:t>
                      </a: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</a:t>
                      </a: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completamente</a:t>
                      </a: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 </a:t>
                      </a:r>
                      <a:r>
                        <a:rPr lang="en-US" sz="1100" b="1" dirty="0" err="1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inercia</a:t>
                      </a:r>
                      <a:r>
                        <a:rPr lang="en-US" sz="11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temporal del 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TS3 – AR(2) + Tendencia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parámetros, menos datos 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Interacciones no lineales, fairness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 iterativa del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más importantes (TS2 · AR(1)):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9136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IRS_lag1 (IRS año anterior)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3950208"/>
            <a:ext cx="50292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7"/>
          <p:cNvSpPr/>
          <p:nvPr/>
        </p:nvSpPr>
        <p:spPr>
          <a:xfrm>
            <a:off x="3291840" y="3950208"/>
            <a:ext cx="3922776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8"/>
          <p:cNvSpPr/>
          <p:nvPr/>
        </p:nvSpPr>
        <p:spPr>
          <a:xfrm>
            <a:off x="7306056" y="391363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42611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Log_Población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4297680"/>
            <a:ext cx="50292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Shape 11"/>
          <p:cNvSpPr/>
          <p:nvPr/>
        </p:nvSpPr>
        <p:spPr>
          <a:xfrm>
            <a:off x="3291840" y="4297680"/>
            <a:ext cx="2916936" cy="201168"/>
          </a:xfrm>
          <a:prstGeom prst="roundRect">
            <a:avLst>
              <a:gd name="adj" fmla="val 22727"/>
            </a:avLst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2"/>
          <p:cNvSpPr/>
          <p:nvPr/>
        </p:nvSpPr>
        <p:spPr>
          <a:xfrm>
            <a:off x="6300216" y="42611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46085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Temporal (Año)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4645152"/>
            <a:ext cx="50292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Shape 15"/>
          <p:cNvSpPr/>
          <p:nvPr/>
        </p:nvSpPr>
        <p:spPr>
          <a:xfrm>
            <a:off x="3291840" y="4645152"/>
            <a:ext cx="1760220" cy="201168"/>
          </a:xfrm>
          <a:prstGeom prst="roundRect">
            <a:avLst>
              <a:gd name="adj" fmla="val 22727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6"/>
          <p:cNvSpPr/>
          <p:nvPr/>
        </p:nvSpPr>
        <p:spPr>
          <a:xfrm>
            <a:off x="5143500" y="46085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DEC-006: TS2 seleccionado por menor RMSE y mayor R². El IRS tiene alta inercia temporal: el valor de t depende principalmente de t-1.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69D29E-ACAD-67C5-0E0F-CCB7FED7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46"/>
            <a:ext cx="9144000" cy="21704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DCA822-2FBB-5636-A5D9-FCE3F1284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0560"/>
            <a:ext cx="9144000" cy="2281509"/>
          </a:xfrm>
          <a:prstGeom prst="rect">
            <a:avLst/>
          </a:prstGeom>
        </p:spPr>
      </p:pic>
      <p:sp>
        <p:nvSpPr>
          <p:cNvPr id="6" name="Shape 30">
            <a:extLst>
              <a:ext uri="{FF2B5EF4-FFF2-40B4-BE49-F238E27FC236}">
                <a16:creationId xmlns:a16="http://schemas.microsoft.com/office/drawing/2014/main" id="{97E1F030-31C5-B49A-5AE7-286913892944}"/>
              </a:ext>
            </a:extLst>
          </p:cNvPr>
          <p:cNvSpPr/>
          <p:nvPr/>
        </p:nvSpPr>
        <p:spPr>
          <a:xfrm>
            <a:off x="182880" y="4453128"/>
            <a:ext cx="8595360" cy="69037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31">
            <a:extLst>
              <a:ext uri="{FF2B5EF4-FFF2-40B4-BE49-F238E27FC236}">
                <a16:creationId xmlns:a16="http://schemas.microsoft.com/office/drawing/2014/main" id="{24E07F35-A80F-38B9-B3BF-FFB31B398B34}"/>
              </a:ext>
            </a:extLst>
          </p:cNvPr>
          <p:cNvSpPr/>
          <p:nvPr/>
        </p:nvSpPr>
        <p:spPr>
          <a:xfrm>
            <a:off x="365760" y="4498353"/>
            <a:ext cx="83210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las decisions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tomadas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el pipeline de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limpieza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estan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fundamentadas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metodológicamente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siguientes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fuentes</a:t>
            </a:r>
            <a:r>
              <a:rPr lang="en-US" sz="10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900" dirty="0"/>
              <a:t>1. </a:t>
            </a:r>
            <a:r>
              <a:rPr lang="en-US" sz="900" dirty="0" err="1"/>
              <a:t>Breiman</a:t>
            </a:r>
            <a:r>
              <a:rPr lang="en-US" sz="900" dirty="0"/>
              <a:t>, L. (2001). Random Forests. Machine Learning. (</a:t>
            </a:r>
            <a:r>
              <a:rPr lang="en-US" sz="900" dirty="0" err="1"/>
              <a:t>Fundamento</a:t>
            </a:r>
            <a:r>
              <a:rPr lang="en-US" sz="900" dirty="0"/>
              <a:t> de la </a:t>
            </a:r>
            <a:r>
              <a:rPr lang="en-US" sz="900" dirty="0" err="1"/>
              <a:t>robustez</a:t>
            </a:r>
            <a:r>
              <a:rPr lang="en-US" sz="900" dirty="0"/>
              <a:t> no lineal).</a:t>
            </a:r>
          </a:p>
          <a:p>
            <a:pPr marL="0" indent="0">
              <a:buNone/>
            </a:pPr>
            <a:r>
              <a:rPr lang="en-US" sz="900" dirty="0"/>
              <a:t>2. Friedman, J. H. (2001). Greedy function approximation: A gradient boosting machine. Annals of Statistics. (</a:t>
            </a:r>
            <a:r>
              <a:rPr lang="en-US" sz="900" dirty="0" err="1"/>
              <a:t>Fundamento</a:t>
            </a:r>
            <a:r>
              <a:rPr lang="en-US" sz="900" dirty="0"/>
              <a:t> de la </a:t>
            </a:r>
            <a:r>
              <a:rPr lang="en-US" sz="900" dirty="0" err="1"/>
              <a:t>precisión</a:t>
            </a:r>
            <a:r>
              <a:rPr lang="en-US" sz="900" dirty="0"/>
              <a:t> de </a:t>
            </a:r>
            <a:r>
              <a:rPr lang="en-US" sz="900" dirty="0" err="1"/>
              <a:t>XGBoost</a:t>
            </a:r>
            <a:r>
              <a:rPr lang="en-US" sz="900" dirty="0"/>
              <a:t>).</a:t>
            </a:r>
          </a:p>
          <a:p>
            <a:pPr marL="0" indent="0">
              <a:buNone/>
            </a:pPr>
            <a:r>
              <a:rPr lang="en-US" sz="900" dirty="0"/>
              <a:t>3. Wooldridge, J. M. (2016). Introductory Econometrics: A Modern Approach. (</a:t>
            </a:r>
            <a:r>
              <a:rPr lang="en-US" sz="900" dirty="0" err="1"/>
              <a:t>Fundamento</a:t>
            </a:r>
            <a:r>
              <a:rPr lang="en-US" sz="900" dirty="0"/>
              <a:t> de la </a:t>
            </a:r>
            <a:r>
              <a:rPr lang="en-US" sz="900" dirty="0" err="1"/>
              <a:t>importancia</a:t>
            </a:r>
            <a:r>
              <a:rPr lang="en-US" sz="900" dirty="0"/>
              <a:t> de la </a:t>
            </a:r>
            <a:r>
              <a:rPr lang="en-US" sz="900" dirty="0" err="1"/>
              <a:t>persistencia</a:t>
            </a:r>
            <a:r>
              <a:rPr lang="en-US" sz="900" dirty="0"/>
              <a:t> temporal </a:t>
            </a:r>
            <a:r>
              <a:rPr lang="en-US" sz="900" dirty="0" err="1"/>
              <a:t>en</a:t>
            </a:r>
            <a:r>
              <a:rPr lang="en-US" sz="900" dirty="0"/>
              <a:t> </a:t>
            </a:r>
            <a:r>
              <a:rPr lang="en-US" sz="900" dirty="0" err="1"/>
              <a:t>datos</a:t>
            </a:r>
            <a:r>
              <a:rPr lang="en-US" sz="900" dirty="0"/>
              <a:t> </a:t>
            </a:r>
            <a:r>
              <a:rPr lang="en-US" sz="900" dirty="0" err="1"/>
              <a:t>socioeconómicos</a:t>
            </a:r>
            <a:r>
              <a:rPr lang="en-US" sz="9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8728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· IMPACT SIMULATION — ÍNDICE DE RESILIENCIA LOCAL (IRL)       </a:t>
            </a:r>
            <a:r>
              <a:rPr lang="en-US" sz="17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IRL = Variación real per cápita del cantón</a:t>
            </a:r>
            <a:r>
              <a:rPr lang="en-US" sz="1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Promedio nacional del mismo período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788920" cy="438912"/>
          </a:xfrm>
          <a:prstGeom prst="rect">
            <a:avLst/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IRL &gt;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cantón crece por encima del promedio nacional. Prioridad presupuestaria baja.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536192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3154680" y="1536192"/>
            <a:ext cx="2788920" cy="438912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246120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🟡  IRL ≈ 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cantón sigue el promedio nacional. Vigilancia sin intervención urgente.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36192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6035040" y="1536192"/>
            <a:ext cx="2788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126480" y="153619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IRL ≤ 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INTERVENCIÓN PRIORITARIA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cantón está rezagado. Alerta de asignación presupuestaria prioritaria.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proyectados 2025–2026 (modelo TS2-AR(1)):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365760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 modelados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50592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542032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42032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 (IRL ≤ 0)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4718304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718304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monitoreo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03136" y="3675888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6894576" y="37307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6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~63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894576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DEC-007: El IRL traduce el IRS estadístico en una regla de decisión binaria interpretable por funcionarios públicos sin formación técnica en ML.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· ÉTICA Y LOPDP                                              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STEWARD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D4EDDA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 principios cumplidos · 4/12 cumplimiento parcial · 0/12 incumplidos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Responsable: Alisson Manosalvas (Data Steward)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Licitud y finalidad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66160" y="142646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datos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181051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84048" y="219456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decisión automática sobre personas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384048" y="257860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(Model Card §1 y §5)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57860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53512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384048" y="2962656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designado (Data Steward)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29626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84048" y="334670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documentadas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3346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41732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4727448" y="142646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documentados (DEC-008)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09560" y="142646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1801368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0FFF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4727448" y="181051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por grupos sensibles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09560" y="181051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185416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4727448" y="219456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proxy (Log_Población)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09560" y="219456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569464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4727448" y="257860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humana formal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09560" y="257860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953512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4727448" y="2962656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ARCO+ territoriales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09560" y="296265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3337560"/>
            <a:ext cx="4160520" cy="32004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4727448" y="3346704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y descarte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09560" y="3346704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70916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457200" y="4745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DEC-008 · Sesgo de Cobertura Administrativa documentado: cantones con alta informalidad económica pueden aparecer con IRS subvalorado. Transparencia priorizada sobre corrección no auditada.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· RESULTADOS — IRS PREDICHO 2025–2026 (MODELO TS2-AR(1))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</a:rPr>
              <a:t>MACHINE LEARNING ENGINEER</a:t>
            </a:r>
            <a:endParaRPr lang="en-US" sz="17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riesgo — 219 cantones · Proyección 2025: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78992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1078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cantones — mayor vulnerabilidad 2025: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89888"/>
          <a:ext cx="3474720" cy="17556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Caluma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Cevallos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Atahualpa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A.B. Moreno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94960" y="3246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Cantones con menor vulnerabilidad 2025: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562356"/>
              </p:ext>
            </p:extLst>
          </p:nvPr>
        </p:nvGraphicFramePr>
        <p:xfrm>
          <a:off x="5486400" y="3584448"/>
          <a:ext cx="3474720" cy="117043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IRS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Guayaquil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D.M. Quito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274320" y="395020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6"/>
          <p:cNvSpPr/>
          <p:nvPr/>
        </p:nvSpPr>
        <p:spPr>
          <a:xfrm>
            <a:off x="320040" y="3977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320040" y="4361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≥ 0.99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993392" y="395020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9"/>
          <p:cNvSpPr/>
          <p:nvPr/>
        </p:nvSpPr>
        <p:spPr>
          <a:xfrm>
            <a:off x="2039112" y="3977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en-US" sz="2400" dirty="0"/>
          </a:p>
        </p:txBody>
      </p:sp>
      <p:sp>
        <p:nvSpPr>
          <p:cNvPr id="9" name="Text 10"/>
          <p:cNvSpPr/>
          <p:nvPr/>
        </p:nvSpPr>
        <p:spPr>
          <a:xfrm>
            <a:off x="2039112" y="4361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0.93–0.99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medio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712464" y="3950208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2"/>
          <p:cNvSpPr/>
          <p:nvPr/>
        </p:nvSpPr>
        <p:spPr>
          <a:xfrm>
            <a:off x="3758184" y="3977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6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3758184" y="43616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&lt; 0.93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vulnerab.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IRS cercano a 1 = alta vulnerabilidad relativa (PCA normalizado). Quito y Guayaquil dominan la varianza nacional, lo que ancla el índice.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· DASHBOARD POWER BI — IRL CANTONAL                    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8892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84048" y="8229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00584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General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globales: IRS promedio nacional, total cantones en riesgo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Ecuador por nivel de IRS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IRL: verde / amarillo / rojo por cantón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11296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Top 10 cantones más vulnerables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804672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3154680" y="804672"/>
            <a:ext cx="27889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3264408" y="8229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64408" y="100584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Histórico 2019–2024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48132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tendencia IRS por cantón (filtro por provincia)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157984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interanual de empleo, salarios, ventas, recaudación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83464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outliers por año — boxplot interactivo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511296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detallada con todas las variables por cantón y año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804672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2" name="Shape 20"/>
          <p:cNvSpPr/>
          <p:nvPr/>
        </p:nvSpPr>
        <p:spPr>
          <a:xfrm>
            <a:off x="6035040" y="804672"/>
            <a:ext cx="2788920" cy="566928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Text 21"/>
          <p:cNvSpPr/>
          <p:nvPr/>
        </p:nvSpPr>
        <p:spPr>
          <a:xfrm>
            <a:off x="6144768" y="8229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44768" y="100584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Proyecciones 2025–2026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48132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proyectado por TS2-AR(1), RF y GBR — tres columnas comparativas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157984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 que cambian de categoría de riesgo vs. 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834640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temporal: slider 2019–2026 unificado (col. Tipo: Histórico/Predicción)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511296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intervención prioritaria (IRL ≤ 0) destacada en rojo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52628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https://app.powerbi.com/groups/me/reports/02eea772-082d-47d1-87a9-7c11f79f3501/cae347f555f7fcbaf6b6?ctid=54474fb3-6359-40c1-b726-5d56a7dd2976&amp;experience=power-bi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· GOBERNANZA — DECISION LOG Y MODEL CARD                   </a:t>
            </a:r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 — 8 decisiones trazables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274320" y="117957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87552" y="11521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El Piedrero y Manga del Cura 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13350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Kevin / Alisson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92608" y="1682496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87552" y="16459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por cantón para Pob. y VAB 2024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" y="182880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· Kevin / Yoss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274320" y="216712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292608" y="217627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87552" y="21396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Conservación de outliers (8%–14%) — heterogeneidad real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" y="232257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Evelyn / Yoss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274320" y="2660904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5C3D8F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92608" y="2670048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87552" y="2633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Log_Población + PCA para sintetizar IRS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" y="281635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 · Juan / Yoss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292608" y="3163824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87552" y="31272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Split — train 2019–2023, test 2024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" y="331012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· Yoss / Juan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584448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Shape 29"/>
          <p:cNvSpPr/>
          <p:nvPr/>
        </p:nvSpPr>
        <p:spPr>
          <a:xfrm>
            <a:off x="274320" y="3648456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1B6B44"/>
          </a:solidFill>
          <a:ln w="12700">
            <a:solidFill>
              <a:srgbClr val="1B6B44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92608" y="3657600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87552" y="362102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TS2-AR(1) como modelo final (RMSE 0.00351)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7552" y="380390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· Juan / Yoss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078224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274320" y="4142232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292608" y="4151376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87552" y="41148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= semáforo de intervención presupuestaria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" y="42976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· Juan / Alisson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4297680" cy="420624"/>
          </a:xfrm>
          <a:prstGeom prst="roundRect">
            <a:avLst>
              <a:gd name="adj" fmla="val 10870"/>
            </a:avLst>
          </a:prstGeom>
          <a:solidFill>
            <a:srgbClr val="F4F6F9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274320" y="4636008"/>
            <a:ext cx="640080" cy="292608"/>
          </a:xfrm>
          <a:prstGeom prst="roundRect">
            <a:avLst>
              <a:gd name="adj" fmla="val 125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292608" y="4645152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DEC-008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87552" y="4608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Cobertura Administrativa documentado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552" y="479145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· Alisson / Equipo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6320" y="749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Card — 6 secciones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1115568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4983480" y="11521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 Model Details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83480" y="13624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IRS-TS2 · AR(1)+Tendencia Lineal por cantón · sklearn LinearRegression · Junio 2026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17830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4983480" y="1819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 Intended Use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83480" y="2029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presupuestaria por GAD Provinciales y MIDESO. No automatiza decisiones sobre individuos.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46320" y="24505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Text 51"/>
          <p:cNvSpPr/>
          <p:nvPr/>
        </p:nvSpPr>
        <p:spPr>
          <a:xfrm>
            <a:off x="4983480" y="2487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 Training Data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8348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cantones · 2019–2024 · 11 variables · INEC, BCE, SRI, SCVS. IRS_lag1 y Log_Población como features.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46320" y="3118104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4983480" y="3154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§4 Evaluation Results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983480" y="3364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RMSE=0.00351 · MAE=0.00190 · R²=0.9981. Recall ≥94% en todos los grupos (urbano, rural, amazónico, insular).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46320" y="3785616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9" name="Text 57"/>
          <p:cNvSpPr/>
          <p:nvPr/>
        </p:nvSpPr>
        <p:spPr>
          <a:xfrm>
            <a:off x="4983480" y="3822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§5 Ethical Considerations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983480" y="40325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cobertura administ. documentado. Proxy Log_Población identificado. Revisión humana en IRS 0.80–0.89.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4453128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5C3D8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2" name="Text 60"/>
          <p:cNvSpPr/>
          <p:nvPr/>
        </p:nvSpPr>
        <p:spPr>
          <a:xfrm>
            <a:off x="4983480" y="44897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§6 Limitations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983480" y="47000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5 años · sin shocks externos · IRS no desagregado por género · 2 cantones excluidos · supuesto estacionariedad.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que habla el idioma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tomadores de decisión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5029200" cy="36576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0.00351 · R² = 0.9981 en validación temporal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30428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cantones modelados con proyecciones 2025–2026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77977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como semáforo de intervención prioritaria para los GAD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25526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LOPDP 8/12 pleno — 0 principios incumplidos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73075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con 8 decisiones técnicas y éticas trazables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2062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listo con 3 páginas y datos 2019–2026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502920"/>
            <a:ext cx="2971800" cy="4480560"/>
          </a:xfrm>
          <a:prstGeom prst="roundRect">
            <a:avLst>
              <a:gd name="adj" fmla="val 3692"/>
            </a:avLst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080760" y="6217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clave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9875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0.00351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80760" y="13258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validación 2024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80760" y="16459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sobre test set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80760" y="23042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080760" y="264261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 predichos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80760" y="296265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12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080760" y="3300984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LOPDP plenos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3657600"/>
            <a:ext cx="2697480" cy="27432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6080760" y="3749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402336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Bootstrap confidence intervals al IRL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426110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Integrar datos INEC 2025 al reentrenar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449884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REST para consumo por GAD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473659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Desagregar IRS por género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2260</Words>
  <Application>Microsoft Office PowerPoint</Application>
  <PresentationFormat>Presentación en pantalla (16:9)</PresentationFormat>
  <Paragraphs>285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Google Sans Text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Riesgo de Pobreza por Cantón</dc:title>
  <dc:subject>PptxGenJS Presentation</dc:subject>
  <dc:creator>PptxGenJS</dc:creator>
  <cp:lastModifiedBy>ESTUDIANTES</cp:lastModifiedBy>
  <cp:revision>5</cp:revision>
  <dcterms:created xsi:type="dcterms:W3CDTF">2026-06-29T13:59:35Z</dcterms:created>
  <dcterms:modified xsi:type="dcterms:W3CDTF">2026-06-29T23:03:37Z</dcterms:modified>
</cp:coreProperties>
</file>