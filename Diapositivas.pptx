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MX" sz="1800" b="0" i="0" u="none" strike="noStrike">
                <a:solidFill>
                  <a:srgbClr val="000000"/>
                </a:solidFill>
                <a:latin typeface="Arial"/>
              </a:rPr>
              <a:t>IRS Promedio Nacional 2019–2026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IRS Promedio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09-4CB2-BBEC-D60FBD85E73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709-4CB2-BBEC-D60FBD85E73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709-4CB2-BBEC-D60FBD85E73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709-4CB2-BBEC-D60FBD85E73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709-4CB2-BBEC-D60FBD85E73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709-4CB2-BBEC-D60FBD85E735}"/>
              </c:ext>
            </c:extLst>
          </c:dPt>
          <c:dPt>
            <c:idx val="6"/>
            <c:invertIfNegative val="0"/>
            <c:bubble3D val="0"/>
            <c:spPr>
              <a:solidFill>
                <a:srgbClr val="D486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709-4CB2-BBEC-D60FBD85E735}"/>
              </c:ext>
            </c:extLst>
          </c:dPt>
          <c:dPt>
            <c:idx val="7"/>
            <c:invertIfNegative val="0"/>
            <c:bubble3D val="0"/>
            <c:spPr>
              <a:solidFill>
                <a:srgbClr val="D486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709-4CB2-BBEC-D60FBD85E73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4A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
(pred.)</c:v>
                </c:pt>
                <c:pt idx="7">
                  <c:v>2026
(pred.)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0.98480000000000001</c:v>
                </c:pt>
                <c:pt idx="1">
                  <c:v>0.98529999999999995</c:v>
                </c:pt>
                <c:pt idx="2">
                  <c:v>0.98360000000000003</c:v>
                </c:pt>
                <c:pt idx="3">
                  <c:v>0.98170000000000002</c:v>
                </c:pt>
                <c:pt idx="4">
                  <c:v>0.98050000000000004</c:v>
                </c:pt>
                <c:pt idx="5">
                  <c:v>0.97989999999999999</c:v>
                </c:pt>
                <c:pt idx="6">
                  <c:v>0.97860000000000003</c:v>
                </c:pt>
                <c:pt idx="7">
                  <c:v>0.97729999999999995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709-4CB2-BBEC-D60FBD85E7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9"/>
          <c:min val="0.9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172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Geografía de Ecuador | Cámara Oficial Española de Comercio del Ecuador">
            <a:extLst>
              <a:ext uri="{FF2B5EF4-FFF2-40B4-BE49-F238E27FC236}">
                <a16:creationId xmlns:a16="http://schemas.microsoft.com/office/drawing/2014/main" id="{D4BD308D-4FCB-8A41-666C-A2A9F6470F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3152" y="-22860"/>
            <a:ext cx="9070848" cy="51663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</a:t>
            </a:r>
            <a:r>
              <a:rPr lang="en-US" sz="800" kern="0" spc="3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CARRERA DE CIENCIA DE DATOS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 Riesgo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Pobreza por Cantón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6974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Resiliencia Local (IRL) · 219 Cantones · 2019–2026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3200400"/>
            <a:ext cx="4114800" cy="36576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3200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del Proyecto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373075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Ramos  </a:t>
            </a: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Engineer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95935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Delgado  </a:t>
            </a: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418795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Yoslava Garofalo  </a:t>
            </a: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441655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Evelyn Oña  </a:t>
            </a: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64515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Alisson Manosalvas  </a:t>
            </a: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· EL PROBLEMA Y EL CANVAS                                                        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EBF4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Ecuador carece de métricas cantonales de riesgo socioeconómico entre censos. Los GAD Provinciales y el MIDESO no pueden asignar presupuesto de forma basada en datos con horizonte predictivo.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2743200" cy="306324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 w="12700">
            <a:solidFill>
              <a:srgbClr val="1A2B4A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274320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End-User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 Provinciales del Ecuador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(24 provincias · 219 cantones)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MIDESO · Secretaría de Planificación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737360"/>
            <a:ext cx="2743200" cy="306324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3200400" y="173736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29184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Analítica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3317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cantones tendrán Índice de Resiliencia Local (IRL) ≤ 0 en 2025–2026, señalando intervención prioritaria?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737360"/>
            <a:ext cx="2743200" cy="306324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 w="12700">
            <a:solidFill>
              <a:srgbClr val="1B6B44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6080760" y="1737360"/>
            <a:ext cx="2743200" cy="502920"/>
          </a:xfrm>
          <a:prstGeom prst="rect">
            <a:avLst/>
          </a:prstGeom>
          <a:solidFill>
            <a:srgbClr val="1B6B4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617220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de Valor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3317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IRL con semáforo cantonal predictivo. Tres modelos ML + dashboard Power BI listo para producción.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Business Model Canvas del equipo · INEC · BCE · SRI · SCVS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· LOS DATOS — ETL Y EDA                                                                 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finales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50592" y="7772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542032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42032" y="12984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26864" y="7772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4718304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18304" y="12984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seleccionadas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03136" y="7772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894576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2019–2024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94576" y="12984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histórico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18928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INEC · BCE · SRI · Superintendencia de Compañías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94560"/>
            <a:ext cx="2788920" cy="265176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36576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Exclusión zonas no delimitadas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278892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Piedrero y Manga del Cura eliminados: nulos estructurales en recaudación y registro mercantil (&lt;1% del total). No son errores de captura.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82112" y="2194560"/>
            <a:ext cx="2788920" cy="265176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1B6B44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3273552" y="2286000"/>
            <a:ext cx="411480" cy="411480"/>
          </a:xfrm>
          <a:prstGeom prst="ellipse">
            <a:avLst/>
          </a:prstGeom>
          <a:solidFill>
            <a:srgbClr val="1B6B4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3273552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76472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Imputación por regresión por cantón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9272" y="278892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y VAB 2024 imputados con regresión lineal individual por cantón (2019–2023), preservando la tendencia histórica territorial.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9904" y="2194560"/>
            <a:ext cx="2788920" cy="265176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D4860B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6181344" y="2286000"/>
            <a:ext cx="411480" cy="411480"/>
          </a:xfrm>
          <a:prstGeom prst="ellipse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6181344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84264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conservados — DEC-003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27064" y="278892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8%–14% de outliers en ventas y recaudación identificados. Se conservaron: reflejan heterogeneidad económica real (agroindustria concentrada). RMSE final confirma robustez.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754880"/>
            <a:ext cx="8595360" cy="256032"/>
          </a:xfrm>
          <a:prstGeom prst="roundRect">
            <a:avLst>
              <a:gd name="adj" fmla="val 17857"/>
            </a:avLst>
          </a:prstGeom>
          <a:solidFill>
            <a:srgbClr val="FFF3CD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411480" y="477316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Hallazgo EDA: distribución de Población altamente asimétrica → se aplica Log_Población como feature engineering (DEC-004)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· EL MODELO — COMPARATIVA Y SELECCIÓN                       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SCIENTIST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BF4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Validación: Time Series Split — Entrenamiento 2019–2023 · Test 2024  (sin data leakage — DEC-005)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8595360" cy="208483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Ventaja principal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TS1 – Tendencia Lineal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simple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TS2 – AR(1) + Tendencia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6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6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6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inercia temporal del 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TS3 – AR(2) + Tendencia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parámetros, menos datos 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Interacciones no lineales, fairness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Optimización iterativa del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más importantes (TS2 · AR(1)):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39136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IRS_lag1 (IRS año anterior)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3950208"/>
            <a:ext cx="5029200" cy="201168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7"/>
          <p:cNvSpPr/>
          <p:nvPr/>
        </p:nvSpPr>
        <p:spPr>
          <a:xfrm>
            <a:off x="3291840" y="3950208"/>
            <a:ext cx="3922776" cy="201168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8"/>
          <p:cNvSpPr/>
          <p:nvPr/>
        </p:nvSpPr>
        <p:spPr>
          <a:xfrm>
            <a:off x="7306056" y="39136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" y="426110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Log_Población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4297680"/>
            <a:ext cx="5029200" cy="201168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1"/>
          <p:cNvSpPr/>
          <p:nvPr/>
        </p:nvSpPr>
        <p:spPr>
          <a:xfrm>
            <a:off x="3291840" y="4297680"/>
            <a:ext cx="2916936" cy="201168"/>
          </a:xfrm>
          <a:prstGeom prst="roundRect">
            <a:avLst>
              <a:gd name="adj" fmla="val 22727"/>
            </a:avLst>
          </a:prstGeom>
          <a:solidFill>
            <a:srgbClr val="1B6B4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2"/>
          <p:cNvSpPr/>
          <p:nvPr/>
        </p:nvSpPr>
        <p:spPr>
          <a:xfrm>
            <a:off x="6300216" y="426110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4320" y="460857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Temporal (Año)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91840" y="4645152"/>
            <a:ext cx="5029200" cy="201168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5"/>
          <p:cNvSpPr/>
          <p:nvPr/>
        </p:nvSpPr>
        <p:spPr>
          <a:xfrm>
            <a:off x="3291840" y="4645152"/>
            <a:ext cx="1760220" cy="201168"/>
          </a:xfrm>
          <a:prstGeom prst="roundRect">
            <a:avLst>
              <a:gd name="adj" fmla="val 22727"/>
            </a:avLst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6"/>
          <p:cNvSpPr/>
          <p:nvPr/>
        </p:nvSpPr>
        <p:spPr>
          <a:xfrm>
            <a:off x="5143500" y="46085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DEC-006: TS2 seleccionado por menor RMSE y mayor R². El IRS tiene alta inercia temporal: el valor de t depende principalmente de t-1.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· IMPACT SIMULATION — ÍNDICE DE RESILIENCIA LOCAL (IRL)       </a:t>
            </a:r>
            <a:r>
              <a:rPr lang="en-US" sz="17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</a:t>
            </a:r>
            <a:endParaRPr lang="en-US" sz="17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IRL = Variación real per cápita del cantón</a:t>
            </a:r>
            <a:r>
              <a:rPr lang="en-US" sz="1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−  Promedio nacional del mismo período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F4F6F9"/>
          </a:solidFill>
          <a:ln w="12700">
            <a:solidFill>
              <a:srgbClr val="1B6B44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2788920" cy="438912"/>
          </a:xfrm>
          <a:prstGeom prst="rect">
            <a:avLst/>
          </a:prstGeom>
          <a:solidFill>
            <a:srgbClr val="1B6B4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🟢  IRL &gt; 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cantón crece por encima del promedio nacional. Prioridad presupuestaria baja.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536192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F4F6F9"/>
          </a:solidFill>
          <a:ln w="12700">
            <a:solidFill>
              <a:srgbClr val="D4860B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3154680" y="1536192"/>
            <a:ext cx="2788920" cy="438912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3246120" y="153619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🟡  IRL ≈ 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3317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cantón sigue el promedio nacional. Vigilancia sin intervención urgente.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536192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F4F6F9"/>
          </a:solidFill>
          <a:ln w="12700">
            <a:solidFill>
              <a:srgbClr val="B91C1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6035040" y="1536192"/>
            <a:ext cx="2788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126480" y="153619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 IRL ≤ 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 PRIORITARIA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23317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cantón está rezagado. Alerta de asignación presupuestaria prioritaria.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3310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proyectados 2025–2026 (modelo TS2-AR(1)):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675888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365760" y="37307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65760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cantones modelados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50592" y="3675888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2542032" y="37307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542032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 (IRL ≤ 0)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26864" y="3675888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4718304" y="37307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~89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718304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monitoreo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03136" y="3675888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6894576" y="37307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6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~63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894576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DEC-007: El IRL traduce el IRS estadístico en una regla de decisión binaria interpretable por funcionarios públicos sin formación técnica en ML.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· ÉTICA Y LOPDP                                                                                 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STEWARD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D4EDDA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8/12 principios cumplidos · 4/12 cumplimiento parcial · 0/12 incumplidos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Responsable: Alisson Manosalvas (Data Steward)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384048" y="1426464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Licitud y finalidad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566160" y="1426464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384048" y="181051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Minimización de datos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66160" y="1810512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185416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384048" y="2194560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decisión automática sobre personas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160" y="2194560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69464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384048" y="2578608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(Model Card §1 y §5)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66160" y="2578608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53512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384048" y="2962656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designado (Data Steward)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66160" y="2962656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337560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384048" y="3346704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documentadas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66160" y="3346704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1417320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4727448" y="1426464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Sesgos documentados (DEC-008)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909560" y="1426464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1801368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4727448" y="181051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por grupos sensibles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09560" y="1810512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2185416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4727448" y="2194560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proxy (Log_Población)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09560" y="2194560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2569464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4727448" y="2578608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humana formal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909560" y="2578608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2953512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4727448" y="2962656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ARCO+ territoriales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909560" y="2962656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3337560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4727448" y="3346704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Conservación y descarte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909560" y="3346704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70916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FFF3CD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457200" y="47457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DEC-008 · Sesgo de Cobertura Administrativa documentado: cantones con alta informalidad económica pueden aparecer con IRS subvalorado. Transparencia priorizada sobre corrección no auditada.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· RESULTADOS — IRS PREDICHO 2025–2026 (MODELO TS2-AR(1))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MACHINE LEARNING ENGINEER</a:t>
            </a:r>
            <a:endParaRPr lang="en-US" sz="17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 riesgo — 219 cantones · Proyección 2025: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78992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10789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cantones — mayor vulnerabilidad 2025: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389888"/>
          <a:ext cx="3474720" cy="175564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IRS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Caluma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Cevallos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Atahualpa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A.B. Moreno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0" y="2926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Cantones con menor vulnerabilidad 2025: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3236976"/>
          <a:ext cx="3474720" cy="117043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IRS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Guayaquil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D.M. Quito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274320" y="3950208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6"/>
          <p:cNvSpPr/>
          <p:nvPr/>
        </p:nvSpPr>
        <p:spPr>
          <a:xfrm>
            <a:off x="320040" y="3977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320040" y="43616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≥ 0.99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riesgo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1993392" y="3950208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9"/>
          <p:cNvSpPr/>
          <p:nvPr/>
        </p:nvSpPr>
        <p:spPr>
          <a:xfrm>
            <a:off x="2039112" y="3977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</a:t>
            </a:r>
            <a:endParaRPr lang="en-US" sz="2400" dirty="0"/>
          </a:p>
        </p:txBody>
      </p:sp>
      <p:sp>
        <p:nvSpPr>
          <p:cNvPr id="9" name="Text 10"/>
          <p:cNvSpPr/>
          <p:nvPr/>
        </p:nvSpPr>
        <p:spPr>
          <a:xfrm>
            <a:off x="2039112" y="43616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0.93–0.99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medio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3712464" y="3950208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2"/>
          <p:cNvSpPr/>
          <p:nvPr/>
        </p:nvSpPr>
        <p:spPr>
          <a:xfrm>
            <a:off x="3758184" y="3977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6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3758184" y="43616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&lt; 0.93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vulnerab.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IRS cercano a 1 = alta vulnerabilidad relativa (PCA normalizado). Quito y Guayaquil dominan la varianza nacional, lo que ancla el índice.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· DASHBOARD POWER BI — IRL CANTONAL                                   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F4F6F9"/>
          </a:solidFill>
          <a:ln w="12700">
            <a:solidFill>
              <a:srgbClr val="1A2B4A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88920" cy="5669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384048" y="822960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1005840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General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globales: IRS promedio nacional, total cantones en riesgo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57984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coroplético Ecuador por nivel de IRS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IRL: verde / amarillo / rojo por cantón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511296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Top 10 cantones más vulnerables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804672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F4F6F9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3154680" y="804672"/>
            <a:ext cx="27889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3264408" y="822960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64408" y="1005840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Histórico 2019–2024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481328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tendencia IRS por cantón (filtro por provincia)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157984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interanual de empleo, salarios, ventas, recaudación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2834640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outliers por año — boxplot interactivo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3511296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detallada con todas las variables por cantón y año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804672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F4F6F9"/>
          </a:solidFill>
          <a:ln w="12700">
            <a:solidFill>
              <a:srgbClr val="D4860B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6035040" y="804672"/>
            <a:ext cx="2788920" cy="566928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6144768" y="822960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44768" y="1005840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Proyecciones 2025–2026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1481328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proyectado por TS2-AR(1), RF y GBR — tres columnas comparativas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2157984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Cantones que cambian de categoría de riesgo vs. 2024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834640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temporal: slider 2019–2026 unificado (col. Tipo: Histórico/Predicción)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3511296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 intervención prioritaria (IRL ≤ 0) destacada en rojo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52628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EBF4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datos Excel (dashboard_IRL_PowerBI_v2.xlsx):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1: Histórico 2019–2024 · Hoja 2: Predicciones 2025–2026 · Hoja 3: Métricas modelos · Hoja 4: Timeline unificado con col. Tipo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· GOBERNANZA — DECISION LOG Y MODEL CARD               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 — 8 decisiones trazables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97680" cy="420624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74320" y="1179576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292608" y="1188720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DEC-001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87552" y="11521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 El Piedrero y Manga del Cura 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7552" y="13350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· Kevin / Alisson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4297680" cy="420624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274320" y="1673352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1B6B4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292608" y="1682496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DEC-002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87552" y="16459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 por cantón para Pob. y VAB 2024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87552" y="182880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· Kevin / Yoss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4297680" cy="420624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274320" y="2167128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292608" y="217627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DEC-003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87552" y="21396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Conservación de outliers (8%–14%) — heterogeneidad real 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87552" y="2322576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Evelyn / Yoss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596896"/>
            <a:ext cx="4297680" cy="420624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274320" y="2660904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5C3D8F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292608" y="2670048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DEC-004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87552" y="26334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Log_Población + PCA para sintetizar IRS 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87552" y="281635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 · Juan / Yoss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090672"/>
            <a:ext cx="4297680" cy="420624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274320" y="3154680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292608" y="316382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DEC-005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87552" y="31272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Split — train 2019–2023, test 2024 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87552" y="331012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· Yoss / Juan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584448"/>
            <a:ext cx="4297680" cy="420624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274320" y="3648456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1B6B4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292608" y="3657600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DEC-006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87552" y="362102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TS2-AR(1) como modelo final (RMSE 0.00351)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87552" y="380390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· Juan / Yoss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4078224"/>
            <a:ext cx="4297680" cy="420624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274320" y="4142232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292608" y="4151376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DEC-007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87552" y="41148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 = semáforo de intervención presupuestaria 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87552" y="42976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· Juan / Alisson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4572000"/>
            <a:ext cx="4297680" cy="420624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" name="Shape 39"/>
          <p:cNvSpPr/>
          <p:nvPr/>
        </p:nvSpPr>
        <p:spPr>
          <a:xfrm>
            <a:off x="274320" y="4636008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292608" y="464515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DEC-008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987552" y="4608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 Cobertura Administrativa documentado 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87552" y="4791456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· Alisson / Equipo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46320" y="7498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Card — 6 secciones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1115568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7" name="Text 45"/>
          <p:cNvSpPr/>
          <p:nvPr/>
        </p:nvSpPr>
        <p:spPr>
          <a:xfrm>
            <a:off x="4983480" y="11521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§1 Model Details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83480" y="13624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IRS-TS2 · AR(1)+Tendencia Lineal por cantón · sklearn LinearRegression · Junio 2026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46320" y="178308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" name="Text 48"/>
          <p:cNvSpPr/>
          <p:nvPr/>
        </p:nvSpPr>
        <p:spPr>
          <a:xfrm>
            <a:off x="4983480" y="18196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§2 Intended Use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83480" y="20299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presupuestaria por GAD Provinciales y MIDESO. No automatiza decisiones sobre individuos.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46320" y="2450592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3" name="Text 51"/>
          <p:cNvSpPr/>
          <p:nvPr/>
        </p:nvSpPr>
        <p:spPr>
          <a:xfrm>
            <a:off x="4983480" y="24871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§3 Training Data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98348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cantones · 2019–2024 · 11 variables · INEC, BCE, SRI, SCVS. IRS_lag1 y Log_Población como features.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846320" y="3118104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6" name="Text 54"/>
          <p:cNvSpPr/>
          <p:nvPr/>
        </p:nvSpPr>
        <p:spPr>
          <a:xfrm>
            <a:off x="4983480" y="3154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§4 Evaluation Results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983480" y="33649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RMSE=0.00351 · MAE=0.00190 · R²=0.9981. Recall ≥94% en todos los grupos (urbano, rural, amazónico, insular).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846320" y="3785616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9" name="Text 57"/>
          <p:cNvSpPr/>
          <p:nvPr/>
        </p:nvSpPr>
        <p:spPr>
          <a:xfrm>
            <a:off x="4983480" y="38221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§5 Ethical Considerations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983480" y="40325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cobertura administ. documentado. Proxy Log_Población identificado. Revisión humana en IRS 0.80–0.89.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846320" y="4453128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2" name="Text 60"/>
          <p:cNvSpPr/>
          <p:nvPr/>
        </p:nvSpPr>
        <p:spPr>
          <a:xfrm>
            <a:off x="4983480" y="44897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§6 Limitations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983480" y="47000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5 años · sin shocks externos · IRS no desagregado por género · 2 cantones excluidos · supuesto estacionariedad.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documentos están publicados en el repositorio GitHub y constituyen la trazabilidad completa del ciclo de vida del modelo.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modelo que habla el idioma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tomadores de decisión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5029200" cy="36576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0.00351 · R² = 0.9981 en validación temporal 2024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30428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cantones modelados con proyecciones 2025–2026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779776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 como semáforo de intervención prioritaria para los GAD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255264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LOPDP 8/12 pleno — 0 principios incumplidos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73075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 con 8 decisiones técnicas y éticas trazables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420624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 listo con 3 páginas y datos 2019–2026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502920"/>
            <a:ext cx="2971800" cy="4480560"/>
          </a:xfrm>
          <a:prstGeom prst="roundRect">
            <a:avLst>
              <a:gd name="adj" fmla="val 3692"/>
            </a:avLst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080760" y="62179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clave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98755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0.00351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080760" y="132588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validación 2024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080760" y="16459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80760" y="198424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sobre test set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80760" y="23042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080760" y="2642616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cantones predichos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80760" y="296265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12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080760" y="3300984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LOPDP plenos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80760" y="3657600"/>
            <a:ext cx="2697480" cy="27432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6080760" y="37490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402336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Bootstrap confidence intervals al IRL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0760" y="4261104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Integrar datos INEC 2025 al reentrenar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449884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 REST para consumo por GAD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4736592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Desagregar IRS por género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1500</Words>
  <Application>Microsoft Office PowerPoint</Application>
  <PresentationFormat>Presentación en pantalla (16:9)</PresentationFormat>
  <Paragraphs>258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Riesgo de Pobreza por Cantón</dc:title>
  <dc:subject>PptxGenJS Presentation</dc:subject>
  <dc:creator>PptxGenJS</dc:creator>
  <cp:lastModifiedBy>Yoslava Garófalo</cp:lastModifiedBy>
  <cp:revision>3</cp:revision>
  <dcterms:created xsi:type="dcterms:W3CDTF">2026-06-29T13:59:35Z</dcterms:created>
  <dcterms:modified xsi:type="dcterms:W3CDTF">2026-06-29T15:16:11Z</dcterms:modified>
</cp:coreProperties>
</file>