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6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MX" sz="1800" b="0" i="0" u="none" strike="noStrike">
                <a:solidFill>
                  <a:srgbClr val="000000"/>
                </a:solidFill>
                <a:latin typeface="Arial"/>
              </a:rPr>
              <a:t>IRS Promedio Nacional 2019–2026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IRS Promedio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09-4CB2-BBEC-D60FBD85E73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709-4CB2-BBEC-D60FBD85E73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709-4CB2-BBEC-D60FBD85E735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709-4CB2-BBEC-D60FBD85E73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4709-4CB2-BBEC-D60FBD85E735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4709-4CB2-BBEC-D60FBD85E735}"/>
              </c:ext>
            </c:extLst>
          </c:dPt>
          <c:dPt>
            <c:idx val="6"/>
            <c:invertIfNegative val="0"/>
            <c:bubble3D val="0"/>
            <c:spPr>
              <a:solidFill>
                <a:srgbClr val="D486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4709-4CB2-BBEC-D60FBD85E735}"/>
              </c:ext>
            </c:extLst>
          </c:dPt>
          <c:dPt>
            <c:idx val="7"/>
            <c:invertIfNegative val="0"/>
            <c:bubble3D val="0"/>
            <c:spPr>
              <a:solidFill>
                <a:srgbClr val="D486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4709-4CB2-BBEC-D60FBD85E73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2B4A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
(pred.)</c:v>
                </c:pt>
                <c:pt idx="7">
                  <c:v>2026
(pred.)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0.98480000000000001</c:v>
                </c:pt>
                <c:pt idx="1">
                  <c:v>0.98529999999999995</c:v>
                </c:pt>
                <c:pt idx="2">
                  <c:v>0.98360000000000003</c:v>
                </c:pt>
                <c:pt idx="3">
                  <c:v>0.98170000000000002</c:v>
                </c:pt>
                <c:pt idx="4">
                  <c:v>0.98050000000000004</c:v>
                </c:pt>
                <c:pt idx="5">
                  <c:v>0.97989999999999999</c:v>
                </c:pt>
                <c:pt idx="6">
                  <c:v>0.97860000000000003</c:v>
                </c:pt>
                <c:pt idx="7">
                  <c:v>0.97729999999999995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709-4CB2-BBEC-D60FBD85E7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9"/>
          <c:min val="0.97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0172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0EBD-FFD5-3789-8116-DE8B18D85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92854-CCC2-1666-D0F0-65284A705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22526-E0E8-4E5E-9179-6EFEB79F2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DB0B2-1E6A-0A68-0D55-54C9B31ED6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50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 descr="Geografía de Ecuador | Cámara Oficial Española de Comercio del Ecuador">
            <a:extLst>
              <a:ext uri="{FF2B5EF4-FFF2-40B4-BE49-F238E27FC236}">
                <a16:creationId xmlns:a16="http://schemas.microsoft.com/office/drawing/2014/main" id="{D4BD308D-4FCB-8A41-666C-A2A9F6470F9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73152" y="-22860"/>
            <a:ext cx="9070848" cy="516636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2004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PUCE </a:t>
            </a:r>
            <a:r>
              <a:rPr lang="en-US" sz="800" kern="0" spc="300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CARRERA DE CIENCIA DE DATOS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5943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de Riesgo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Pobreza por Cantón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26974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Resiliencia Local (IRL) · 219 Cantones · 2019–2026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3200400"/>
            <a:ext cx="4114800" cy="36576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2004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del Proyecto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373075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Ramos  </a:t>
            </a:r>
            <a:r>
              <a:rPr lang="en-US" sz="1100" i="1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Engineer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395935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Delgado  </a:t>
            </a:r>
            <a:r>
              <a:rPr lang="en-US" sz="1100" i="1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418795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Yoslava Garofalo  </a:t>
            </a:r>
            <a:r>
              <a:rPr lang="en-US" sz="1100" i="1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441655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Evelyn Oña  </a:t>
            </a:r>
            <a:r>
              <a:rPr lang="en-US" sz="1100" i="1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464515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Alisson Manosalvas  </a:t>
            </a:r>
            <a:r>
              <a:rPr lang="en-US" sz="1100" i="1" dirty="0">
                <a:solidFill>
                  <a:srgbClr val="8EA8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D51F-8102-2A96-5CA6-F18D0D925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E6AAA4-F686-C83A-B551-CEDF939BB5CA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FDAF5B-6790-4643-9A02-04C70013D082}"/>
              </a:ext>
            </a:extLst>
          </p:cNvPr>
          <p:cNvSpPr/>
          <p:nvPr/>
        </p:nvSpPr>
        <p:spPr>
          <a:xfrm>
            <a:off x="365760" y="109728"/>
            <a:ext cx="86487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· FUENTE Y DICCIONARIO DE DATOS 		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ENGINEER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8CC562D-4A18-96C7-E12F-F52E0CF1A2B5}"/>
              </a:ext>
            </a:extLst>
          </p:cNvPr>
          <p:cNvSpPr/>
          <p:nvPr/>
        </p:nvSpPr>
        <p:spPr>
          <a:xfrm>
            <a:off x="320040" y="777240"/>
            <a:ext cx="8503920" cy="2141220"/>
          </a:xfrm>
          <a:prstGeom prst="roundRect">
            <a:avLst>
              <a:gd name="adj" fmla="val 9412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s-EC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B955AC6-44FB-6F2D-61D3-3F9753DCE5AB}"/>
              </a:ext>
            </a:extLst>
          </p:cNvPr>
          <p:cNvSpPr/>
          <p:nvPr/>
        </p:nvSpPr>
        <p:spPr>
          <a:xfrm>
            <a:off x="502920" y="155067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recolectaron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artículo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MX" sz="1100" b="1" i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Estadísticas socioeconómicas cantonales del Ecuador (2009-2024): Observatorio de la Política Económica y Competitividad (OPEC) y Centro de Estudios Económicos para el Desarrollo del Ecuador (CEEDE)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 por </a:t>
            </a:r>
            <a:r>
              <a:rPr lang="es-MX" sz="1100" b="1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Maridueña et al. </a:t>
            </a:r>
          </a:p>
          <a:p>
            <a:pPr marL="0" indent="0">
              <a:buNone/>
            </a:pP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r>
              <a:rPr lang="es-MX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 construido a partir del procesamiento de más de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bases de microdatos provenientes de registros administrativos oficiales del INEC, BCE, SRI y SCVS</a:t>
            </a: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Cada base incluyó aproximadamente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millones de registros individuales </a:t>
            </a: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fue tratada utilizando procedimientos automatizados en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Stata 18 para depuración</a:t>
            </a: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estandarización y consolidación. </a:t>
            </a:r>
          </a:p>
          <a:p>
            <a:pPr marL="0" indent="0">
              <a:buNone/>
            </a:pP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estos microdatos se generaron series de tiempo con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mensual, trimestral y anual, armonizando la información para 221 cantones del país </a:t>
            </a:r>
            <a:r>
              <a:rPr lang="es-MX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desagregaciones por sexo e industria cuando las fuentes lo permitían. Se relevaron más de una decena de indicadores, garantizando cifras consistentes con los tabulados oficiales mediante validaciones cruzadas. </a:t>
            </a:r>
            <a:r>
              <a:rPr lang="es-MX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final integra en un único repositorio información proveniente de registros administrativos consolidados y armonizados, permitiendo el análisis de tendencias socioeconómicas cantonales entre 2009 y 2024.</a:t>
            </a:r>
            <a:endParaRPr lang="en-US" sz="1100" b="1" i="1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432C7ECC-4618-C9AC-FC0B-BDD4936BC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3055620"/>
            <a:ext cx="7353300" cy="193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616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· EL PROBLEMA Y EL CANVAS                                     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ENGINEER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777240"/>
          </a:xfrm>
          <a:prstGeom prst="roundRect">
            <a:avLst>
              <a:gd name="adj" fmla="val 9412"/>
            </a:avLst>
          </a:prstGeom>
          <a:solidFill>
            <a:srgbClr val="EBF4F8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502920" y="8412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Ecuador carece de métricas cantonales de riesgo socioeconómico entre censos para determiner la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canton. Los GAD Provinciales y el MIDESO no pueden asignar presupuesto de forma basada en datos con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predictive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devido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carencia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estadístico</a:t>
            </a: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73736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F4F6F9"/>
          </a:solidFill>
          <a:ln w="12700">
            <a:solidFill>
              <a:srgbClr val="1A2B4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320040" y="1737360"/>
            <a:ext cx="2743200" cy="502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End-User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GAD Provinciales del Ecuador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(24 provincias · 219 cantones)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MIDESO · Secretaría de Planificación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73736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F4F6F9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3200400" y="173736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3291840" y="17373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Analítica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23317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cantones tendrán Índice de Resiliencia Local (IRL) ≤ 0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2019–2026, señalando intervención prioritaria?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173736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5" name="Shape 13"/>
          <p:cNvSpPr/>
          <p:nvPr/>
        </p:nvSpPr>
        <p:spPr>
          <a:xfrm>
            <a:off x="6080760" y="1737360"/>
            <a:ext cx="2743200" cy="502920"/>
          </a:xfrm>
          <a:prstGeom prst="rect">
            <a:avLst/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6172200" y="17373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23317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IRL con semáforo cantonal predictive con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endParaRPr lang="en-US" sz="1100" dirty="0">
              <a:solidFill>
                <a:srgbClr val="1A2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General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Histórico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 y 2026</a:t>
            </a:r>
          </a:p>
          <a:p>
            <a:endParaRPr lang="en-US" sz="1100" dirty="0">
              <a:solidFill>
                <a:srgbClr val="1A2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modelos ML + dashboard Power BI listo para producción.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Business Model Canvas del equipo · INEC · BCE · SRI · SCVS</a:t>
            </a:r>
            <a:endParaRPr lang="en-US" sz="800" dirty="0"/>
          </a:p>
        </p:txBody>
      </p:sp>
      <p:pic>
        <p:nvPicPr>
          <p:cNvPr id="19" name="Imagen 18" descr="Boletín técnico">
            <a:extLst>
              <a:ext uri="{FF2B5EF4-FFF2-40B4-BE49-F238E27FC236}">
                <a16:creationId xmlns:a16="http://schemas.microsoft.com/office/drawing/2014/main" id="{BA7D4602-A2ED-2D08-2AD5-3DCC47A8C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33" y="3019145"/>
            <a:ext cx="1426213" cy="1598575"/>
          </a:xfrm>
          <a:prstGeom prst="rect">
            <a:avLst/>
          </a:prstGeom>
        </p:spPr>
      </p:pic>
      <p:pic>
        <p:nvPicPr>
          <p:cNvPr id="20" name="Imagen 19" descr="INEC: Pobreza en Ecuador baja al 25,2 % y roza el nivel prepandemia -  Ecuador 221">
            <a:extLst>
              <a:ext uri="{FF2B5EF4-FFF2-40B4-BE49-F238E27FC236}">
                <a16:creationId xmlns:a16="http://schemas.microsoft.com/office/drawing/2014/main" id="{A8C3ADF4-24C1-CB7E-A303-B298C01E46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82"/>
          <a:stretch>
            <a:fillRect/>
          </a:stretch>
        </p:blipFill>
        <p:spPr>
          <a:xfrm>
            <a:off x="3408583" y="3119487"/>
            <a:ext cx="2326833" cy="14785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· LOS DATOS — ETL Y EDA                                              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1,326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2984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finales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50592" y="7772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2542032" y="822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42032" y="12984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26864" y="7772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4718304" y="822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18304" y="12984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seleccionadas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03136" y="7772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894576" y="822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2019–2024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94576" y="12984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histórico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189280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INEC · BCE · SRI · Superintendencia de Compañías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194560"/>
            <a:ext cx="2788920" cy="265176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8" name="Shape 16"/>
          <p:cNvSpPr/>
          <p:nvPr/>
        </p:nvSpPr>
        <p:spPr>
          <a:xfrm>
            <a:off x="365760" y="2286000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Text 17"/>
          <p:cNvSpPr/>
          <p:nvPr/>
        </p:nvSpPr>
        <p:spPr>
          <a:xfrm>
            <a:off x="36576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22860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Exclusión zonas no delimitadas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278892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Piedrero y Manga del Cura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debido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carencia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provincial y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fundamentals para construer el IRL: nulos estructurales en recaudación y registro mercantil (&lt;1% del total). 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82112" y="2194560"/>
            <a:ext cx="2788920" cy="265176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3" name="Shape 21"/>
          <p:cNvSpPr/>
          <p:nvPr/>
        </p:nvSpPr>
        <p:spPr>
          <a:xfrm>
            <a:off x="3273552" y="2286000"/>
            <a:ext cx="411480" cy="411480"/>
          </a:xfrm>
          <a:prstGeom prst="ellipse">
            <a:avLst/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3273552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76472" y="22860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Imputación por regresión por cantón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19272" y="278892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y VAB 2024 imputados con regresión lineal individual por cantón (2019–2023), preservando la tendencia histórica territorial.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89904" y="2194560"/>
            <a:ext cx="2788920" cy="265176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8" name="Shape 26"/>
          <p:cNvSpPr/>
          <p:nvPr/>
        </p:nvSpPr>
        <p:spPr>
          <a:xfrm>
            <a:off x="6181344" y="2286000"/>
            <a:ext cx="411480" cy="411480"/>
          </a:xfrm>
          <a:prstGeom prst="ellipse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9" name="Text 27"/>
          <p:cNvSpPr/>
          <p:nvPr/>
        </p:nvSpPr>
        <p:spPr>
          <a:xfrm>
            <a:off x="6181344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84264" y="22860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conservados — DEC-003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27064" y="278892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8%–14% de outliers en ventas y recaudación identificados. Se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conservaron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debido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reflejan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heterogeneidad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 de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eliminarlos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sería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error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metodológico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sesgaría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carencias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cantonales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(agroindustria concentrada). RMSE final confirma robustez.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320540"/>
            <a:ext cx="8595360" cy="690372"/>
          </a:xfrm>
          <a:prstGeom prst="roundRect">
            <a:avLst>
              <a:gd name="adj" fmla="val 17857"/>
            </a:avLst>
          </a:prstGeom>
          <a:solidFill>
            <a:srgbClr val="FFF3CD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" name="Text 31"/>
          <p:cNvSpPr/>
          <p:nvPr/>
        </p:nvSpPr>
        <p:spPr>
          <a:xfrm>
            <a:off x="411480" y="4407408"/>
            <a:ext cx="8321040" cy="626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Todas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las decisions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tomadas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el pipeline de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limpieza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estan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fundamentadas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metodológicamente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las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siguientes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fuentes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: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000" dirty="0"/>
              <a:t>Gujarati, D. N., &amp; Porter, D. C. (2009). Basic </a:t>
            </a:r>
            <a:r>
              <a:rPr lang="es-MX" sz="1000" dirty="0" err="1"/>
              <a:t>econometrics</a:t>
            </a:r>
            <a:r>
              <a:rPr lang="es-MX" sz="1000" dirty="0"/>
              <a:t> (5ta ed.). McGraw-Hill </a:t>
            </a:r>
            <a:r>
              <a:rPr lang="es-MX" sz="1000" dirty="0" err="1"/>
              <a:t>Education</a:t>
            </a:r>
            <a:r>
              <a:rPr lang="es-MX" sz="10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000" b="1" dirty="0"/>
              <a:t>J</a:t>
            </a:r>
            <a:r>
              <a:rPr lang="es-MX" sz="1000" dirty="0"/>
              <a:t>olliffe, I. T. (2002). Principal </a:t>
            </a:r>
            <a:r>
              <a:rPr lang="es-MX" sz="1000" dirty="0" err="1"/>
              <a:t>component</a:t>
            </a:r>
            <a:r>
              <a:rPr lang="es-MX" sz="1000" dirty="0"/>
              <a:t> </a:t>
            </a:r>
            <a:r>
              <a:rPr lang="es-MX" sz="1000" dirty="0" err="1"/>
              <a:t>analysis</a:t>
            </a:r>
            <a:r>
              <a:rPr lang="es-MX" sz="1000" dirty="0"/>
              <a:t> (2da ed.). Springer-</a:t>
            </a:r>
            <a:r>
              <a:rPr lang="es-MX" sz="1000" dirty="0" err="1"/>
              <a:t>Verlag</a:t>
            </a:r>
            <a:r>
              <a:rPr lang="es-MX" sz="10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000" dirty="0"/>
              <a:t>Wooldridge, J. M. (2016). </a:t>
            </a:r>
            <a:r>
              <a:rPr lang="es-MX" sz="1000" dirty="0" err="1"/>
              <a:t>Introductory</a:t>
            </a:r>
            <a:r>
              <a:rPr lang="es-MX" sz="1000" dirty="0"/>
              <a:t> </a:t>
            </a:r>
            <a:r>
              <a:rPr lang="es-MX" sz="1000" dirty="0" err="1"/>
              <a:t>econometrics</a:t>
            </a:r>
            <a:r>
              <a:rPr lang="es-MX" sz="1000" dirty="0"/>
              <a:t>: A </a:t>
            </a:r>
            <a:r>
              <a:rPr lang="es-MX" sz="1000" dirty="0" err="1"/>
              <a:t>modern</a:t>
            </a:r>
            <a:r>
              <a:rPr lang="es-MX" sz="1000" dirty="0"/>
              <a:t> </a:t>
            </a:r>
            <a:r>
              <a:rPr lang="es-MX" sz="1000" dirty="0" err="1"/>
              <a:t>approach</a:t>
            </a:r>
            <a:r>
              <a:rPr lang="es-MX" sz="1000" dirty="0"/>
              <a:t> (6ta ed.). Cengage </a:t>
            </a:r>
            <a:r>
              <a:rPr lang="es-MX" sz="1000" dirty="0" err="1"/>
              <a:t>Learning</a:t>
            </a:r>
            <a:r>
              <a:rPr lang="es-MX" sz="1000" dirty="0"/>
              <a:t>.</a:t>
            </a:r>
          </a:p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· EL MODELO — COMPARATIVA Y SELECCIÓN    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SCIENTIST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BF4F8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Validación: Time Series Split — Entrenamiento 2019–2023 · Test 2024  (sin data leakage — DEC-005)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326216"/>
              </p:ext>
            </p:extLst>
          </p:nvPr>
        </p:nvGraphicFramePr>
        <p:xfrm>
          <a:off x="274320" y="1261872"/>
          <a:ext cx="8595360" cy="23317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Raíz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del error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cuadrático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medio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ABSOLUTO MEDIO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Ventaja 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TS1 – Tendencia Lineal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simple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TS2 – AR(1) + Tendencia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 err="1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r>
                        <a:rPr lang="en-US" sz="11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</a:t>
                      </a:r>
                      <a:r>
                        <a:rPr lang="en-US" sz="11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completamente</a:t>
                      </a:r>
                      <a:r>
                        <a:rPr lang="en-US" sz="11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la </a:t>
                      </a:r>
                      <a:r>
                        <a:rPr lang="en-US" sz="1100" b="1" dirty="0" err="1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inercia</a:t>
                      </a:r>
                      <a:r>
                        <a:rPr lang="en-US" sz="11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temporal del 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TS3 – AR(2) + Tendencia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parámetros, menos datos 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Interacciones no lineales, fairness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Optimización iterativa del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más importantes (TS2 · AR(1)):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39136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IRS_lag1 (IRS año anterior)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91840" y="3950208"/>
            <a:ext cx="5029200" cy="201168"/>
          </a:xfrm>
          <a:prstGeom prst="roundRect">
            <a:avLst>
              <a:gd name="adj" fmla="val 22727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Shape 7"/>
          <p:cNvSpPr/>
          <p:nvPr/>
        </p:nvSpPr>
        <p:spPr>
          <a:xfrm>
            <a:off x="3291840" y="3950208"/>
            <a:ext cx="3922776" cy="201168"/>
          </a:xfrm>
          <a:prstGeom prst="roundRect">
            <a:avLst>
              <a:gd name="adj" fmla="val 2272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8"/>
          <p:cNvSpPr/>
          <p:nvPr/>
        </p:nvSpPr>
        <p:spPr>
          <a:xfrm>
            <a:off x="7306056" y="391363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74320" y="426110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Log_Población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4297680"/>
            <a:ext cx="5029200" cy="201168"/>
          </a:xfrm>
          <a:prstGeom prst="roundRect">
            <a:avLst>
              <a:gd name="adj" fmla="val 22727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Shape 11"/>
          <p:cNvSpPr/>
          <p:nvPr/>
        </p:nvSpPr>
        <p:spPr>
          <a:xfrm>
            <a:off x="3291840" y="4297680"/>
            <a:ext cx="2916936" cy="201168"/>
          </a:xfrm>
          <a:prstGeom prst="roundRect">
            <a:avLst>
              <a:gd name="adj" fmla="val 22727"/>
            </a:avLst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2"/>
          <p:cNvSpPr/>
          <p:nvPr/>
        </p:nvSpPr>
        <p:spPr>
          <a:xfrm>
            <a:off x="6300216" y="426110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" y="46085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Temporal (Año)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91840" y="4645152"/>
            <a:ext cx="5029200" cy="201168"/>
          </a:xfrm>
          <a:prstGeom prst="roundRect">
            <a:avLst>
              <a:gd name="adj" fmla="val 22727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Shape 15"/>
          <p:cNvSpPr/>
          <p:nvPr/>
        </p:nvSpPr>
        <p:spPr>
          <a:xfrm>
            <a:off x="3291840" y="4645152"/>
            <a:ext cx="1760220" cy="201168"/>
          </a:xfrm>
          <a:prstGeom prst="roundRect">
            <a:avLst>
              <a:gd name="adj" fmla="val 22727"/>
            </a:avLst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Text 16"/>
          <p:cNvSpPr/>
          <p:nvPr/>
        </p:nvSpPr>
        <p:spPr>
          <a:xfrm>
            <a:off x="5143500" y="460857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DEC-006: TS2 seleccionado por menor RMSE y mayor R². El IRS tiene alta inercia temporal: el valor de t depende principalmente de t-1.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B69D29E-ACAD-67C5-0E0F-CCB7FED7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846"/>
            <a:ext cx="9144000" cy="217048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DCA822-2FBB-5636-A5D9-FCE3F1284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0560"/>
            <a:ext cx="9144000" cy="2281509"/>
          </a:xfrm>
          <a:prstGeom prst="rect">
            <a:avLst/>
          </a:prstGeom>
        </p:spPr>
      </p:pic>
      <p:sp>
        <p:nvSpPr>
          <p:cNvPr id="6" name="Shape 30">
            <a:extLst>
              <a:ext uri="{FF2B5EF4-FFF2-40B4-BE49-F238E27FC236}">
                <a16:creationId xmlns:a16="http://schemas.microsoft.com/office/drawing/2014/main" id="{97E1F030-31C5-B49A-5AE7-286913892944}"/>
              </a:ext>
            </a:extLst>
          </p:cNvPr>
          <p:cNvSpPr/>
          <p:nvPr/>
        </p:nvSpPr>
        <p:spPr>
          <a:xfrm>
            <a:off x="182880" y="4453128"/>
            <a:ext cx="8595360" cy="690372"/>
          </a:xfrm>
          <a:prstGeom prst="roundRect">
            <a:avLst>
              <a:gd name="adj" fmla="val 17857"/>
            </a:avLst>
          </a:prstGeom>
          <a:solidFill>
            <a:srgbClr val="FFF3CD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31">
            <a:extLst>
              <a:ext uri="{FF2B5EF4-FFF2-40B4-BE49-F238E27FC236}">
                <a16:creationId xmlns:a16="http://schemas.microsoft.com/office/drawing/2014/main" id="{24E07F35-A80F-38B9-B3BF-FFB31B398B34}"/>
              </a:ext>
            </a:extLst>
          </p:cNvPr>
          <p:cNvSpPr/>
          <p:nvPr/>
        </p:nvSpPr>
        <p:spPr>
          <a:xfrm>
            <a:off x="365760" y="4498353"/>
            <a:ext cx="8321040" cy="626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Todas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las decisions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tomadas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el pipeline de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limpieza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estan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fundamentadas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metodológicamente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las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siguientes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fuentes</a:t>
            </a:r>
            <a:r>
              <a:rPr lang="en-US" sz="1000" dirty="0">
                <a:solidFill>
                  <a:srgbClr val="1A2B4A"/>
                </a:solidFill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900" dirty="0"/>
              <a:t>1. </a:t>
            </a:r>
            <a:r>
              <a:rPr lang="en-US" sz="900" dirty="0" err="1"/>
              <a:t>Breiman</a:t>
            </a:r>
            <a:r>
              <a:rPr lang="en-US" sz="900" dirty="0"/>
              <a:t>, L. (2001). Random Forests. Machine Learning. (</a:t>
            </a:r>
            <a:r>
              <a:rPr lang="en-US" sz="900" dirty="0" err="1"/>
              <a:t>Fundamento</a:t>
            </a:r>
            <a:r>
              <a:rPr lang="en-US" sz="900" dirty="0"/>
              <a:t> de la </a:t>
            </a:r>
            <a:r>
              <a:rPr lang="en-US" sz="900" dirty="0" err="1"/>
              <a:t>robustez</a:t>
            </a:r>
            <a:r>
              <a:rPr lang="en-US" sz="900" dirty="0"/>
              <a:t> no lineal).</a:t>
            </a:r>
          </a:p>
          <a:p>
            <a:pPr marL="0" indent="0">
              <a:buNone/>
            </a:pPr>
            <a:r>
              <a:rPr lang="en-US" sz="900" dirty="0"/>
              <a:t>2. Friedman, J. H. (2001). Greedy function approximation: A gradient boosting machine. Annals of Statistics. (</a:t>
            </a:r>
            <a:r>
              <a:rPr lang="en-US" sz="900" dirty="0" err="1"/>
              <a:t>Fundamento</a:t>
            </a:r>
            <a:r>
              <a:rPr lang="en-US" sz="900" dirty="0"/>
              <a:t> de la </a:t>
            </a:r>
            <a:r>
              <a:rPr lang="en-US" sz="900" dirty="0" err="1"/>
              <a:t>precisión</a:t>
            </a:r>
            <a:r>
              <a:rPr lang="en-US" sz="900" dirty="0"/>
              <a:t> de </a:t>
            </a:r>
            <a:r>
              <a:rPr lang="en-US" sz="900" dirty="0" err="1"/>
              <a:t>XGBoost</a:t>
            </a:r>
            <a:r>
              <a:rPr lang="en-US" sz="900" dirty="0"/>
              <a:t>).</a:t>
            </a:r>
          </a:p>
          <a:p>
            <a:pPr marL="0" indent="0">
              <a:buNone/>
            </a:pPr>
            <a:r>
              <a:rPr lang="en-US" sz="900" dirty="0"/>
              <a:t>3. Wooldridge, J. M. (2016). Introductory Econometrics: A Modern Approach. (</a:t>
            </a:r>
            <a:r>
              <a:rPr lang="en-US" sz="900" dirty="0" err="1"/>
              <a:t>Fundamento</a:t>
            </a:r>
            <a:r>
              <a:rPr lang="en-US" sz="900" dirty="0"/>
              <a:t> de la </a:t>
            </a:r>
            <a:r>
              <a:rPr lang="en-US" sz="900" dirty="0" err="1"/>
              <a:t>importancia</a:t>
            </a:r>
            <a:r>
              <a:rPr lang="en-US" sz="900" dirty="0"/>
              <a:t> de la </a:t>
            </a:r>
            <a:r>
              <a:rPr lang="en-US" sz="900" dirty="0" err="1"/>
              <a:t>persistencia</a:t>
            </a:r>
            <a:r>
              <a:rPr lang="en-US" sz="900" dirty="0"/>
              <a:t> temporal </a:t>
            </a:r>
            <a:r>
              <a:rPr lang="en-US" sz="900" dirty="0" err="1"/>
              <a:t>en</a:t>
            </a:r>
            <a:r>
              <a:rPr lang="en-US" sz="900" dirty="0"/>
              <a:t> </a:t>
            </a:r>
            <a:r>
              <a:rPr lang="en-US" sz="900" dirty="0" err="1"/>
              <a:t>datos</a:t>
            </a:r>
            <a:r>
              <a:rPr lang="en-US" sz="900" dirty="0"/>
              <a:t> </a:t>
            </a:r>
            <a:r>
              <a:rPr lang="en-US" sz="900" dirty="0" err="1"/>
              <a:t>socioeconómicos</a:t>
            </a:r>
            <a:r>
              <a:rPr lang="en-US" sz="9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88728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· IMPACT SIMULATION — ÍNDICE DE RESILIENCIA LOCAL (IRL)       </a:t>
            </a:r>
            <a:r>
              <a:rPr lang="en-US" sz="17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</a:t>
            </a:r>
            <a:endParaRPr lang="en-US" sz="17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658368"/>
          </a:xfrm>
          <a:prstGeom prst="roundRect">
            <a:avLst>
              <a:gd name="adj" fmla="val 13889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IRL = Variación real per cápita del cantón</a:t>
            </a:r>
            <a:r>
              <a:rPr lang="en-US" sz="1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Promedio nacional del mismo período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536192"/>
            <a:ext cx="2788920" cy="164592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274320" y="1536192"/>
            <a:ext cx="2788920" cy="438912"/>
          </a:xfrm>
          <a:prstGeom prst="rect">
            <a:avLst/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🟢  IRL &gt; 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3317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cantón crece por encima del promedio nacional. Prioridad presupuestaria baja.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536192"/>
            <a:ext cx="2788920" cy="164592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Shape 10"/>
          <p:cNvSpPr/>
          <p:nvPr/>
        </p:nvSpPr>
        <p:spPr>
          <a:xfrm>
            <a:off x="3154680" y="1536192"/>
            <a:ext cx="2788920" cy="438912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1"/>
          <p:cNvSpPr/>
          <p:nvPr/>
        </p:nvSpPr>
        <p:spPr>
          <a:xfrm>
            <a:off x="3246120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🟡  IRL ≈ 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46120" y="201168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23317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cantón sigue el promedio nacional. Vigilancia sin intervención urgente.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536192"/>
            <a:ext cx="2788920" cy="164592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 w="12700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6035040" y="1536192"/>
            <a:ext cx="2788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6126480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🔴  IRL ≤ 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201168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INTERVENCIÓN PRIORITARIA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72200" y="23317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cantón está rezagado. Alerta de asignación presupuestaria prioritaria.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74320" y="3310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proyectados 2025–2026 (modelo TS2-AR(1)):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675888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F4F6F9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365760" y="37307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 modelados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50592" y="3675888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F4F6F9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2542032" y="37307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2542032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riesgo (IRL ≤ 0)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26864" y="3675888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9" name="Text 27"/>
          <p:cNvSpPr/>
          <p:nvPr/>
        </p:nvSpPr>
        <p:spPr>
          <a:xfrm>
            <a:off x="4718304" y="37307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~89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718304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monitoreo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03136" y="3675888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6894576" y="37307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6B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~63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6894576" y="4187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DEC-007: El IRL traduce el IRS estadístico en una regla de decisión binaria interpretable por funcionarios públicos sin formación técnica en ML.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· ÉTICA Y LOPDP                                                              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STEWARD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D4EDDA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 principios cumplidos · 4/12 cumplimiento parcial · 0/12 incumplidos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Responsable: Alisson Manosalvas (Data Steward)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84048" y="142646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Licitud y finalidad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566160" y="1426464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84048" y="181051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Minimización de datos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66160" y="1810512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185416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1"/>
          <p:cNvSpPr/>
          <p:nvPr/>
        </p:nvSpPr>
        <p:spPr>
          <a:xfrm>
            <a:off x="384048" y="2194560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decisión automática sobre personas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0" y="2194560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69464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(Model Card §1 y §5)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66160" y="2578608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953512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Text 17"/>
          <p:cNvSpPr/>
          <p:nvPr/>
        </p:nvSpPr>
        <p:spPr>
          <a:xfrm>
            <a:off x="384048" y="2962656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designado (Data Steward)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566160" y="2962656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337560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384048" y="334670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documentadas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566160" y="3346704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17720" y="1417320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Text 23"/>
          <p:cNvSpPr/>
          <p:nvPr/>
        </p:nvSpPr>
        <p:spPr>
          <a:xfrm>
            <a:off x="4727448" y="142646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Sesgos documentados (DEC-008)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09560" y="1426464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17720" y="1801368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0FFF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4727448" y="181051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por grupos sensibles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09560" y="1810512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185416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Text 29"/>
          <p:cNvSpPr/>
          <p:nvPr/>
        </p:nvSpPr>
        <p:spPr>
          <a:xfrm>
            <a:off x="4727448" y="2194560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proxy (Log_Población)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909560" y="2194560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17720" y="2569464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" name="Text 32"/>
          <p:cNvSpPr/>
          <p:nvPr/>
        </p:nvSpPr>
        <p:spPr>
          <a:xfrm>
            <a:off x="4727448" y="2578608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 formal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909560" y="2578608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17720" y="2953512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4727448" y="2962656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Derechos ARCO+ territoriales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909560" y="2962656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17720" y="3337560"/>
            <a:ext cx="4160520" cy="32004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" name="Text 38"/>
          <p:cNvSpPr/>
          <p:nvPr/>
        </p:nvSpPr>
        <p:spPr>
          <a:xfrm>
            <a:off x="4727448" y="334670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</a:t>
            </a: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Conservación y descarte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09560" y="3346704"/>
            <a:ext cx="777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74320" y="4709160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FFF3CD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" name="Text 41"/>
          <p:cNvSpPr/>
          <p:nvPr/>
        </p:nvSpPr>
        <p:spPr>
          <a:xfrm>
            <a:off x="457200" y="47457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DEC-008 · Sesgo de Cobertura Administrativa documentado: cantones con alta informalidad económica pueden aparecer con IRS subvalorado. Transparencia priorizada sobre corrección no auditada.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· RESULTADOS — IRS PREDICHO 2025–2026 (MODELO TS2-AR(1))</a:t>
            </a:r>
          </a:p>
          <a:p>
            <a:pPr marL="0" indent="0">
              <a:buNone/>
            </a:pPr>
            <a:r>
              <a:rPr lang="en-US" sz="17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</a:rPr>
              <a:t>MACHINE LEARNING ENGINEER</a:t>
            </a:r>
            <a:endParaRPr lang="en-US" sz="17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de riesgo — 219 cantones · Proyección 2025: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078992"/>
          <a:ext cx="50292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0" y="107899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cantones — mayor vulnerabilidad 2025: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389888"/>
          <a:ext cx="3474720" cy="175564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IRS 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Caluma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Cevallos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Atahualpa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A.B. Moreno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394960" y="3246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6B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Cantones con menor vulnerabilidad 2025:</a:t>
            </a:r>
            <a:endParaRPr lang="en-US" sz="10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562356"/>
              </p:ext>
            </p:extLst>
          </p:nvPr>
        </p:nvGraphicFramePr>
        <p:xfrm>
          <a:off x="5486400" y="3584448"/>
          <a:ext cx="3474720" cy="117043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IRS 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Guayaquil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D.M. Quito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6B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274320" y="3950208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4F6F9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6"/>
          <p:cNvSpPr/>
          <p:nvPr/>
        </p:nvSpPr>
        <p:spPr>
          <a:xfrm>
            <a:off x="320040" y="39776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320040" y="4361688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≥ 0.99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riesgo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1993392" y="3950208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9"/>
          <p:cNvSpPr/>
          <p:nvPr/>
        </p:nvSpPr>
        <p:spPr>
          <a:xfrm>
            <a:off x="2039112" y="39776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</a:t>
            </a:r>
            <a:endParaRPr lang="en-US" sz="2400" dirty="0"/>
          </a:p>
        </p:txBody>
      </p:sp>
      <p:sp>
        <p:nvSpPr>
          <p:cNvPr id="9" name="Text 10"/>
          <p:cNvSpPr/>
          <p:nvPr/>
        </p:nvSpPr>
        <p:spPr>
          <a:xfrm>
            <a:off x="2039112" y="4361688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0.93–0.99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medio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712464" y="3950208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2"/>
          <p:cNvSpPr/>
          <p:nvPr/>
        </p:nvSpPr>
        <p:spPr>
          <a:xfrm>
            <a:off x="3758184" y="39776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6B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3758184" y="4361688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&lt; 0.93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vulnerab.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IRS cercano a 1 = alta vulnerabilidad relativa (PCA normalizado). Quito y Guayaquil dominan la varianza nacional, lo que ancla el índice.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· DASHBOARD POWER BI — IRL CANTONAL                    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1A2B4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788920" cy="5669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84048" y="822960"/>
            <a:ext cx="25786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4048" y="1005840"/>
            <a:ext cx="25786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Panorama General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481328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globales: IRS promedio nacional, total cantones en riesgo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157984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Ecuador por nivel de IRS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 IRL: verde / amarillo / rojo por cantón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3511296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Top 10 cantones más vulnerables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54680" y="804672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4" name="Shape 12"/>
          <p:cNvSpPr/>
          <p:nvPr/>
        </p:nvSpPr>
        <p:spPr>
          <a:xfrm>
            <a:off x="3154680" y="804672"/>
            <a:ext cx="2788920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3264408" y="822960"/>
            <a:ext cx="25786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64408" y="1005840"/>
            <a:ext cx="25786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Histórico 2019–2024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1481328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de tendencia IRS por cantón (filtro por provincia)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157984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interanual de empleo, salarios, ventas, recaudación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91840" y="2834640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outliers por año — boxplot interactivo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0" y="3511296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detallada con todas las variables por cantón y año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804672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566928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6144768" y="822960"/>
            <a:ext cx="25786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Pág. 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44768" y="1005840"/>
            <a:ext cx="25786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Proyecciones 2025–2026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proyectado por TS2-AR(1), RF y GBR — tres columnas comparativas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157984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 que cambian de categoría de riesgo vs. 2024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72200" y="2834640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temporal: slider 2019–2026 unificado (col. Tipo: Histórico/Predicción)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72200" y="3511296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de intervención prioritaria (IRL ≤ 0) destacada en rojo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526280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EBF4F8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https://app.powerbi.com/groups/me/reports/02eea772-082d-47d1-87a9-7c11f79f3501/cae347f555f7fcbaf6b6?ctid=54474fb3-6359-40c1-b726-5d56a7dd2976&amp;experience=power-bi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· GOBERNANZA — DECISION LOG Y MODEL CARD                   </a:t>
            </a:r>
            <a:r>
              <a:rPr lang="en-US" sz="1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ENGINEER</a:t>
            </a:r>
            <a:endParaRPr lang="en-US" sz="1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Log — 8 decisiones trazables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274320" y="1179576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292608" y="1188720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987552" y="115214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El Piedrero y Manga del Cura 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87552" y="133502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Kevin / Alisson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274320" y="1673352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292608" y="1682496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DEC-002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87552" y="164592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por cantón para Pob. y VAB 2024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87552" y="1828800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· Kevin / Yoss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274320" y="2167128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292608" y="217627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DEC-003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87552" y="213969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Conservación de outliers (8%–14%) — heterogeneidad real 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87552" y="2322576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Evelyn / Yoss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2596896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274320" y="2660904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5C3D8F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292608" y="2670048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DEC-004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87552" y="263347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Log_Población + PCA para sintetizar IRS 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87552" y="281635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 · Juan / Yoss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3090672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Shape 24"/>
          <p:cNvSpPr/>
          <p:nvPr/>
        </p:nvSpPr>
        <p:spPr>
          <a:xfrm>
            <a:off x="274320" y="3154680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" name="Text 25"/>
          <p:cNvSpPr/>
          <p:nvPr/>
        </p:nvSpPr>
        <p:spPr>
          <a:xfrm>
            <a:off x="292608" y="3163824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DEC-005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87552" y="312724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Split — train 2019–2023, test 2024 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87552" y="3310128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· Yoss / Juan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584448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Shape 29"/>
          <p:cNvSpPr/>
          <p:nvPr/>
        </p:nvSpPr>
        <p:spPr>
          <a:xfrm>
            <a:off x="274320" y="3648456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1B6B44"/>
          </a:solidFill>
          <a:ln w="12700">
            <a:solidFill>
              <a:srgbClr val="1B6B44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292608" y="3657600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87552" y="362102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TS2-AR(1) como modelo final (RMSE 0.00351)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87552" y="380390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· Juan / Yoss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078224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6" name="Shape 34"/>
          <p:cNvSpPr/>
          <p:nvPr/>
        </p:nvSpPr>
        <p:spPr>
          <a:xfrm>
            <a:off x="274320" y="4142232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292608" y="4151376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87552" y="411480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 = semáforo de intervención presupuestaria 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87552" y="4297680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· Juan / Alisson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" y="4572000"/>
            <a:ext cx="4297680" cy="420624"/>
          </a:xfrm>
          <a:prstGeom prst="roundRect">
            <a:avLst>
              <a:gd name="adj" fmla="val 10870"/>
            </a:avLst>
          </a:prstGeom>
          <a:solidFill>
            <a:srgbClr val="F4F6F9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" name="Shape 39"/>
          <p:cNvSpPr/>
          <p:nvPr/>
        </p:nvSpPr>
        <p:spPr>
          <a:xfrm>
            <a:off x="274320" y="4636008"/>
            <a:ext cx="640080" cy="292608"/>
          </a:xfrm>
          <a:prstGeom prst="roundRect">
            <a:avLst>
              <a:gd name="adj" fmla="val 125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292608" y="4645152"/>
            <a:ext cx="60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DEC-008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987552" y="460857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 Cobertura Administrativa documentado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4791456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· Alisson / Equipo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846320" y="74980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Card — 6 secciones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846320" y="1115568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7" name="Text 45"/>
          <p:cNvSpPr/>
          <p:nvPr/>
        </p:nvSpPr>
        <p:spPr>
          <a:xfrm>
            <a:off x="4983480" y="115214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§1 Model Details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983480" y="13624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IRS-TS2 · AR(1)+Tendencia Lineal por cantón · sklearn LinearRegression · Junio 2026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846320" y="1783080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" name="Text 48"/>
          <p:cNvSpPr/>
          <p:nvPr/>
        </p:nvSpPr>
        <p:spPr>
          <a:xfrm>
            <a:off x="4983480" y="181965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§2 Intended Use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983480" y="202996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Priorización presupuestaria por GAD Provinciales y MIDESO. No automatiza decisiones sobre individuos.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846320" y="245059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3" name="Text 51"/>
          <p:cNvSpPr/>
          <p:nvPr/>
        </p:nvSpPr>
        <p:spPr>
          <a:xfrm>
            <a:off x="4983480" y="248716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§3 Training Data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983480" y="2697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cantones · 2019–2024 · 11 variables · INEC, BCE, SRI, SCVS. IRS_lag1 y Log_Población como features.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846320" y="3118104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6" name="Text 54"/>
          <p:cNvSpPr/>
          <p:nvPr/>
        </p:nvSpPr>
        <p:spPr>
          <a:xfrm>
            <a:off x="4983480" y="3154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§4 Evaluation Results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83480" y="33649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RMSE=0.00351 · MAE=0.00190 · R²=0.9981. Recall ≥94% en todos los grupos (urbano, rural, amazónico, insular).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846320" y="3785616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9" name="Text 57"/>
          <p:cNvSpPr/>
          <p:nvPr/>
        </p:nvSpPr>
        <p:spPr>
          <a:xfrm>
            <a:off x="4983480" y="38221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§5 Ethical Considerations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4983480" y="403250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cobertura administ. documentado. Proxy Log_Población identificado. Revisión humana en IRS 0.80–0.89.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846320" y="4453128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5C3D8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2" name="Text 60"/>
          <p:cNvSpPr/>
          <p:nvPr/>
        </p:nvSpPr>
        <p:spPr>
          <a:xfrm>
            <a:off x="4983480" y="44897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3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§6 Limitations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983480" y="47000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5 años · sin shocks externos · IRS no desagregado por género · 2 cantones excluidos · supuesto estacionariedad.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20040" y="2560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CIERRE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modelo que habla el idioma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los tomadores de decisión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5029200" cy="36576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320040" y="1828800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0.00351 · R² = 0.9981 en validación temporal 2024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304288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cantones modelados con proyecciones 2025–2026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779776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 como semáforo de intervención prioritaria para los GAD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3255264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LOPDP 8/12 pleno — 0 principios incumplidos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3730752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 con 8 decisiones técnicas y éticas trazables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4206240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Power BI listo con 3 páginas y datos 2019–2026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502920"/>
            <a:ext cx="2971800" cy="4480560"/>
          </a:xfrm>
          <a:prstGeom prst="roundRect">
            <a:avLst>
              <a:gd name="adj" fmla="val 3692"/>
            </a:avLst>
          </a:prstGeom>
          <a:solidFill>
            <a:srgbClr val="028090">
              <a:alpha val="18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080760" y="62179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clave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80760" y="987552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0.00351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80760" y="132588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validación 2024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080760" y="16459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0.9981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80760" y="1984248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sobre test set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80760" y="2304288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080760" y="2642616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cantones predichos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80760" y="2962656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12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080760" y="3300984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LOPDP plenos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80760" y="3657600"/>
            <a:ext cx="2697480" cy="27432"/>
          </a:xfrm>
          <a:prstGeom prst="rect">
            <a:avLst/>
          </a:prstGeom>
          <a:solidFill>
            <a:srgbClr val="D4860B"/>
          </a:solidFill>
          <a:ln w="12700">
            <a:solidFill>
              <a:srgbClr val="D486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6080760" y="374904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4023360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Bootstrap confidence intervals al IRL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80760" y="4261104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Integrar datos INEC 2025 al reentrenar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49884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REST para consumo por GAD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473659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Desagregar IRS por género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1904</Words>
  <Application>Microsoft Office PowerPoint</Application>
  <PresentationFormat>Presentación en pantalla (16:9)</PresentationFormat>
  <Paragraphs>275</Paragraphs>
  <Slides>12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Predicción de Riesgo de Pobreza por Cantón</dc:title>
  <dc:subject>PptxGenJS Presentation</dc:subject>
  <dc:creator>PptxGenJS</dc:creator>
  <cp:lastModifiedBy>Yoslava Garófalo</cp:lastModifiedBy>
  <cp:revision>4</cp:revision>
  <dcterms:created xsi:type="dcterms:W3CDTF">2026-06-29T13:59:35Z</dcterms:created>
  <dcterms:modified xsi:type="dcterms:W3CDTF">2026-06-29T17:25:44Z</dcterms:modified>
</cp:coreProperties>
</file>